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 id="271" r:id="rId3"/>
    <p:sldId id="264" r:id="rId4"/>
    <p:sldId id="263" r:id="rId5"/>
    <p:sldId id="262" r:id="rId6"/>
    <p:sldId id="274" r:id="rId7"/>
    <p:sldId id="261" r:id="rId8"/>
    <p:sldId id="260" r:id="rId9"/>
    <p:sldId id="279" r:id="rId10"/>
    <p:sldId id="280" r:id="rId11"/>
    <p:sldId id="265" r:id="rId12"/>
    <p:sldId id="266" r:id="rId13"/>
    <p:sldId id="297" r:id="rId14"/>
    <p:sldId id="298" r:id="rId15"/>
    <p:sldId id="286" r:id="rId16"/>
    <p:sldId id="258" r:id="rId17"/>
    <p:sldId id="276" r:id="rId18"/>
    <p:sldId id="278" r:id="rId19"/>
    <p:sldId id="277" r:id="rId20"/>
    <p:sldId id="284" r:id="rId21"/>
    <p:sldId id="285" r:id="rId22"/>
    <p:sldId id="287" r:id="rId23"/>
    <p:sldId id="288" r:id="rId24"/>
    <p:sldId id="289" r:id="rId25"/>
    <p:sldId id="290" r:id="rId26"/>
    <p:sldId id="291" r:id="rId27"/>
    <p:sldId id="292" r:id="rId28"/>
    <p:sldId id="293" r:id="rId29"/>
    <p:sldId id="294" r:id="rId30"/>
    <p:sldId id="295" r:id="rId31"/>
    <p:sldId id="296" r:id="rId32"/>
    <p:sldId id="299" r:id="rId33"/>
    <p:sldId id="300" r:id="rId34"/>
    <p:sldId id="301" r:id="rId35"/>
    <p:sldId id="302" r:id="rId36"/>
    <p:sldId id="273" r:id="rId37"/>
    <p:sldId id="281" r:id="rId38"/>
    <p:sldId id="28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showGuides="1">
      <p:cViewPr varScale="1">
        <p:scale>
          <a:sx n="92" d="100"/>
          <a:sy n="92" d="100"/>
        </p:scale>
        <p:origin x="184" y="64"/>
      </p:cViewPr>
      <p:guideLst>
        <p:guide orient="horz" pos="2196"/>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1CDB5-45B1-16A0-875C-672FB13596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21367B6-5C0E-AABC-DC34-38E275E347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6BC79A-79B1-859A-5662-1EC769F17FD5}"/>
              </a:ext>
            </a:extLst>
          </p:cNvPr>
          <p:cNvSpPr>
            <a:spLocks noGrp="1"/>
          </p:cNvSpPr>
          <p:nvPr>
            <p:ph type="dt" sz="half" idx="10"/>
          </p:nvPr>
        </p:nvSpPr>
        <p:spPr/>
        <p:txBody>
          <a:bodyPr/>
          <a:lstStyle/>
          <a:p>
            <a:fld id="{63A1C593-65D0-4073-BCC9-577B9352EA97}" type="datetimeFigureOut">
              <a:rPr lang="en-US" smtClean="0"/>
              <a:t>3/27/2026</a:t>
            </a:fld>
            <a:endParaRPr lang="en-US"/>
          </a:p>
        </p:txBody>
      </p:sp>
      <p:sp>
        <p:nvSpPr>
          <p:cNvPr id="5" name="Footer Placeholder 4">
            <a:extLst>
              <a:ext uri="{FF2B5EF4-FFF2-40B4-BE49-F238E27FC236}">
                <a16:creationId xmlns:a16="http://schemas.microsoft.com/office/drawing/2014/main" id="{2CD4C4BD-2618-11E0-3772-E1FBBBE88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DC3EFE-DF05-F6F4-40E8-412DF806518B}"/>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08251904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24E33-9A9F-521A-BEEB-751C74B547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BE6EA5-1943-8384-FC2A-794EAA594D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0E0AF7-3ABD-CBBB-E403-9EBAB2C04EFD}"/>
              </a:ext>
            </a:extLst>
          </p:cNvPr>
          <p:cNvSpPr>
            <a:spLocks noGrp="1"/>
          </p:cNvSpPr>
          <p:nvPr>
            <p:ph type="dt" sz="half" idx="10"/>
          </p:nvPr>
        </p:nvSpPr>
        <p:spPr/>
        <p:txBody>
          <a:bodyPr/>
          <a:lstStyle/>
          <a:p>
            <a:fld id="{63A1C593-65D0-4073-BCC9-577B9352EA97}" type="datetimeFigureOut">
              <a:rPr lang="en-US" smtClean="0"/>
              <a:t>3/27/2026</a:t>
            </a:fld>
            <a:endParaRPr lang="en-US"/>
          </a:p>
        </p:txBody>
      </p:sp>
      <p:sp>
        <p:nvSpPr>
          <p:cNvPr id="5" name="Footer Placeholder 4">
            <a:extLst>
              <a:ext uri="{FF2B5EF4-FFF2-40B4-BE49-F238E27FC236}">
                <a16:creationId xmlns:a16="http://schemas.microsoft.com/office/drawing/2014/main" id="{000DE53C-0560-591E-7796-1A1BB0B52D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D3F2E8-4407-7183-8F8B-265C21265B10}"/>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75508878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CF3CC-F827-DE3C-12B9-FF7C1D18D4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AB10A35-D9CA-CE0C-F64D-1C75D33846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F83288-5380-E31E-4C79-9D22AF712B54}"/>
              </a:ext>
            </a:extLst>
          </p:cNvPr>
          <p:cNvSpPr>
            <a:spLocks noGrp="1"/>
          </p:cNvSpPr>
          <p:nvPr>
            <p:ph type="dt" sz="half" idx="10"/>
          </p:nvPr>
        </p:nvSpPr>
        <p:spPr/>
        <p:txBody>
          <a:bodyPr/>
          <a:lstStyle/>
          <a:p>
            <a:fld id="{63A1C593-65D0-4073-BCC9-577B9352EA97}" type="datetimeFigureOut">
              <a:rPr lang="en-US" smtClean="0"/>
              <a:t>3/27/2026</a:t>
            </a:fld>
            <a:endParaRPr lang="en-US"/>
          </a:p>
        </p:txBody>
      </p:sp>
      <p:sp>
        <p:nvSpPr>
          <p:cNvPr id="5" name="Footer Placeholder 4">
            <a:extLst>
              <a:ext uri="{FF2B5EF4-FFF2-40B4-BE49-F238E27FC236}">
                <a16:creationId xmlns:a16="http://schemas.microsoft.com/office/drawing/2014/main" id="{3484BBC7-F9C2-67A6-6F36-4AE040E28D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02BADD-F1FC-061B-AED2-BCB90AADB451}"/>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30524211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0E7DC-24B1-EE83-420E-C01D1235745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F3C2F6-B6A3-101E-38E9-392A6415B2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A2E3B4-4B08-269B-D93E-6854494B6E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E5F7AC3-10B0-A785-6C2B-2A3AC5BF473E}"/>
              </a:ext>
            </a:extLst>
          </p:cNvPr>
          <p:cNvSpPr>
            <a:spLocks noGrp="1"/>
          </p:cNvSpPr>
          <p:nvPr>
            <p:ph type="dt" sz="half" idx="10"/>
          </p:nvPr>
        </p:nvSpPr>
        <p:spPr/>
        <p:txBody>
          <a:bodyPr/>
          <a:lstStyle/>
          <a:p>
            <a:fld id="{63A1C593-65D0-4073-BCC9-577B9352EA97}" type="datetimeFigureOut">
              <a:rPr lang="en-US" smtClean="0"/>
              <a:t>3/27/2026</a:t>
            </a:fld>
            <a:endParaRPr lang="en-US"/>
          </a:p>
        </p:txBody>
      </p:sp>
      <p:sp>
        <p:nvSpPr>
          <p:cNvPr id="6" name="Footer Placeholder 5">
            <a:extLst>
              <a:ext uri="{FF2B5EF4-FFF2-40B4-BE49-F238E27FC236}">
                <a16:creationId xmlns:a16="http://schemas.microsoft.com/office/drawing/2014/main" id="{16CB7B22-88F9-9188-C9E6-2BF84F190C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C2C46E-9D53-1E07-79AF-208AC5F10854}"/>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07966063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EF295-97F7-515C-A4DE-09658A1F911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92CC36-D67B-5260-CA4A-3F1DF103C5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341206-2698-2ED5-A487-EE1EA90717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3590BF3-A136-A401-9FC6-87CAB5ECA4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1D8E95-860C-2DE0-6D1C-1ADD7FD8D1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6D8A6B2-BCD3-1B14-B3C9-42D0E3D78183}"/>
              </a:ext>
            </a:extLst>
          </p:cNvPr>
          <p:cNvSpPr>
            <a:spLocks noGrp="1"/>
          </p:cNvSpPr>
          <p:nvPr>
            <p:ph type="dt" sz="half" idx="10"/>
          </p:nvPr>
        </p:nvSpPr>
        <p:spPr/>
        <p:txBody>
          <a:bodyPr/>
          <a:lstStyle/>
          <a:p>
            <a:fld id="{63A1C593-65D0-4073-BCC9-577B9352EA97}" type="datetimeFigureOut">
              <a:rPr lang="en-US" smtClean="0"/>
              <a:t>3/27/2026</a:t>
            </a:fld>
            <a:endParaRPr lang="en-US"/>
          </a:p>
        </p:txBody>
      </p:sp>
      <p:sp>
        <p:nvSpPr>
          <p:cNvPr id="8" name="Footer Placeholder 7">
            <a:extLst>
              <a:ext uri="{FF2B5EF4-FFF2-40B4-BE49-F238E27FC236}">
                <a16:creationId xmlns:a16="http://schemas.microsoft.com/office/drawing/2014/main" id="{E68BE1A3-389E-E644-8149-58D361C621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AC120A-A6D7-1FCE-A876-6CEC7A2BF4B7}"/>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53492375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5C152-0B57-B5F9-20BF-9E4CE450C30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502A006-19C3-28FC-7327-49FD1E8CBA13}"/>
              </a:ext>
            </a:extLst>
          </p:cNvPr>
          <p:cNvSpPr>
            <a:spLocks noGrp="1"/>
          </p:cNvSpPr>
          <p:nvPr>
            <p:ph type="dt" sz="half" idx="10"/>
          </p:nvPr>
        </p:nvSpPr>
        <p:spPr/>
        <p:txBody>
          <a:bodyPr/>
          <a:lstStyle/>
          <a:p>
            <a:fld id="{63A1C593-65D0-4073-BCC9-577B9352EA97}" type="datetimeFigureOut">
              <a:rPr lang="en-US" smtClean="0"/>
              <a:t>3/27/2026</a:t>
            </a:fld>
            <a:endParaRPr lang="en-US"/>
          </a:p>
        </p:txBody>
      </p:sp>
      <p:sp>
        <p:nvSpPr>
          <p:cNvPr id="4" name="Footer Placeholder 3">
            <a:extLst>
              <a:ext uri="{FF2B5EF4-FFF2-40B4-BE49-F238E27FC236}">
                <a16:creationId xmlns:a16="http://schemas.microsoft.com/office/drawing/2014/main" id="{499268E7-867A-5DE0-F9A2-6DD8645BFB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2639FF-914C-5372-7E0D-5170A1605BFF}"/>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08641619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FADA38-AC30-1EB1-C1CC-728CDBC94F37}"/>
              </a:ext>
            </a:extLst>
          </p:cNvPr>
          <p:cNvSpPr>
            <a:spLocks noGrp="1"/>
          </p:cNvSpPr>
          <p:nvPr>
            <p:ph type="dt" sz="half" idx="10"/>
          </p:nvPr>
        </p:nvSpPr>
        <p:spPr/>
        <p:txBody>
          <a:bodyPr/>
          <a:lstStyle/>
          <a:p>
            <a:fld id="{63A1C593-65D0-4073-BCC9-577B9352EA97}" type="datetimeFigureOut">
              <a:rPr lang="en-US" smtClean="0"/>
              <a:t>3/27/2026</a:t>
            </a:fld>
            <a:endParaRPr lang="en-US"/>
          </a:p>
        </p:txBody>
      </p:sp>
      <p:sp>
        <p:nvSpPr>
          <p:cNvPr id="3" name="Footer Placeholder 2">
            <a:extLst>
              <a:ext uri="{FF2B5EF4-FFF2-40B4-BE49-F238E27FC236}">
                <a16:creationId xmlns:a16="http://schemas.microsoft.com/office/drawing/2014/main" id="{A5554D7F-9C8B-084A-DDDC-FEAF08556A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D1E35D-1C26-895A-682A-D934E46FA5C6}"/>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00303655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092B1-D729-5783-396F-E95D49B489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58AC4F4-067A-6C2E-C063-6F8415B942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E1B53D9-21D2-877F-CEAA-8F6716B5C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53E6EC-5C99-AAC5-C739-6F1E821A181F}"/>
              </a:ext>
            </a:extLst>
          </p:cNvPr>
          <p:cNvSpPr>
            <a:spLocks noGrp="1"/>
          </p:cNvSpPr>
          <p:nvPr>
            <p:ph type="dt" sz="half" idx="10"/>
          </p:nvPr>
        </p:nvSpPr>
        <p:spPr/>
        <p:txBody>
          <a:bodyPr/>
          <a:lstStyle/>
          <a:p>
            <a:fld id="{63A1C593-65D0-4073-BCC9-577B9352EA97}" type="datetimeFigureOut">
              <a:rPr lang="en-US" smtClean="0"/>
              <a:t>3/27/2026</a:t>
            </a:fld>
            <a:endParaRPr lang="en-US"/>
          </a:p>
        </p:txBody>
      </p:sp>
      <p:sp>
        <p:nvSpPr>
          <p:cNvPr id="6" name="Footer Placeholder 5">
            <a:extLst>
              <a:ext uri="{FF2B5EF4-FFF2-40B4-BE49-F238E27FC236}">
                <a16:creationId xmlns:a16="http://schemas.microsoft.com/office/drawing/2014/main" id="{E487D941-D782-3A4B-898E-4FB0BC6754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365D00-F203-28CD-93E4-BFC5D4811ADC}"/>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62884722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390E7-5658-48EF-6FAD-E7A1EA7015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18E01FB-E93A-E4F5-597F-F13F5BE423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CB1696C-5727-D2D7-5A48-475E1AF744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D7BF7D-605E-1D4D-398E-37FF7F8A6121}"/>
              </a:ext>
            </a:extLst>
          </p:cNvPr>
          <p:cNvSpPr>
            <a:spLocks noGrp="1"/>
          </p:cNvSpPr>
          <p:nvPr>
            <p:ph type="dt" sz="half" idx="10"/>
          </p:nvPr>
        </p:nvSpPr>
        <p:spPr/>
        <p:txBody>
          <a:bodyPr/>
          <a:lstStyle/>
          <a:p>
            <a:fld id="{63A1C593-65D0-4073-BCC9-577B9352EA97}" type="datetimeFigureOut">
              <a:rPr lang="en-US" smtClean="0"/>
              <a:t>3/27/2026</a:t>
            </a:fld>
            <a:endParaRPr lang="en-US"/>
          </a:p>
        </p:txBody>
      </p:sp>
      <p:sp>
        <p:nvSpPr>
          <p:cNvPr id="6" name="Footer Placeholder 5">
            <a:extLst>
              <a:ext uri="{FF2B5EF4-FFF2-40B4-BE49-F238E27FC236}">
                <a16:creationId xmlns:a16="http://schemas.microsoft.com/office/drawing/2014/main" id="{04DD3A84-7211-E007-DA46-906DA60758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ACDF6F-4D60-3B0D-61AA-A79995EE50F2}"/>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14027715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E2FC8-E1BF-0C96-8AE2-33AD9835BC0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698BF2-F26A-5531-0EDC-85B8F7AB47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2063A2-7910-C43E-95BB-D24D5B0F79CB}"/>
              </a:ext>
            </a:extLst>
          </p:cNvPr>
          <p:cNvSpPr>
            <a:spLocks noGrp="1"/>
          </p:cNvSpPr>
          <p:nvPr>
            <p:ph type="dt" sz="half" idx="10"/>
          </p:nvPr>
        </p:nvSpPr>
        <p:spPr/>
        <p:txBody>
          <a:bodyPr/>
          <a:lstStyle/>
          <a:p>
            <a:fld id="{63A1C593-65D0-4073-BCC9-577B9352EA97}" type="datetimeFigureOut">
              <a:rPr lang="en-US" smtClean="0"/>
              <a:t>3/27/2026</a:t>
            </a:fld>
            <a:endParaRPr lang="en-US"/>
          </a:p>
        </p:txBody>
      </p:sp>
      <p:sp>
        <p:nvSpPr>
          <p:cNvPr id="5" name="Footer Placeholder 4">
            <a:extLst>
              <a:ext uri="{FF2B5EF4-FFF2-40B4-BE49-F238E27FC236}">
                <a16:creationId xmlns:a16="http://schemas.microsoft.com/office/drawing/2014/main" id="{641D0943-841A-3C9C-F6BE-F2F623085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751E28-3FE2-C233-6829-F3E7843C2166}"/>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5194515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405283-F243-2D77-1963-ABB0423EA9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6C8EC3-4B74-4865-E055-E6C0DCEA4E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C2D480-4C39-FA25-0F85-B643FC523D34}"/>
              </a:ext>
            </a:extLst>
          </p:cNvPr>
          <p:cNvSpPr>
            <a:spLocks noGrp="1"/>
          </p:cNvSpPr>
          <p:nvPr>
            <p:ph type="dt" sz="half" idx="10"/>
          </p:nvPr>
        </p:nvSpPr>
        <p:spPr/>
        <p:txBody>
          <a:bodyPr/>
          <a:lstStyle/>
          <a:p>
            <a:fld id="{63A1C593-65D0-4073-BCC9-577B9352EA97}" type="datetimeFigureOut">
              <a:rPr lang="en-US" smtClean="0"/>
              <a:t>3/27/2026</a:t>
            </a:fld>
            <a:endParaRPr lang="en-US"/>
          </a:p>
        </p:txBody>
      </p:sp>
      <p:sp>
        <p:nvSpPr>
          <p:cNvPr id="5" name="Footer Placeholder 4">
            <a:extLst>
              <a:ext uri="{FF2B5EF4-FFF2-40B4-BE49-F238E27FC236}">
                <a16:creationId xmlns:a16="http://schemas.microsoft.com/office/drawing/2014/main" id="{F5F424AF-6EC9-A060-9EAC-D668B25C50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CF0D26-2CD6-79C9-9FE6-8EBFEA060C05}"/>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27744225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D1320A-21B3-C4D6-DD97-25F4A9B6BD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77EA68-6FE4-A748-B4C1-D8E99099E0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9B8D29-1C02-6F1E-5DC4-41946D7B7B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A1C593-65D0-4073-BCC9-577B9352EA97}" type="datetimeFigureOut">
              <a:rPr lang="en-US" smtClean="0"/>
              <a:t>3/27/2026</a:t>
            </a:fld>
            <a:endParaRPr lang="en-US"/>
          </a:p>
        </p:txBody>
      </p:sp>
      <p:sp>
        <p:nvSpPr>
          <p:cNvPr id="5" name="Footer Placeholder 4">
            <a:extLst>
              <a:ext uri="{FF2B5EF4-FFF2-40B4-BE49-F238E27FC236}">
                <a16:creationId xmlns:a16="http://schemas.microsoft.com/office/drawing/2014/main" id="{3CD3B98A-596F-D229-7536-3008F51309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72874D2-D611-F2A4-C27C-63672E6E9E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33826405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p:bldLst>
  </p:timing>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7.xml" /></Relationships>
</file>

<file path=ppt/slides/_rels/slide34.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56230" y="265430"/>
            <a:ext cx="6087110" cy="1568450"/>
          </a:xfrm>
          <a:prstGeom prst="rect">
            <a:avLst/>
          </a:prstGeom>
          <a:noFill/>
        </p:spPr>
        <p:txBody>
          <a:bodyPr wrap="square" rtlCol="0">
            <a:spAutoFit/>
          </a:bodyPr>
          <a:lstStyle/>
          <a:p>
            <a:pPr algn="ctr">
              <a:buNone/>
              <a:tabLst>
                <a:tab pos="2982595" algn="l"/>
              </a:tabLst>
            </a:pPr>
            <a:r>
              <a:rPr lang="en-US" sz="2400" b="1" spc="75" dirty="0">
                <a:solidFill>
                  <a:srgbClr val="0F243E"/>
                </a:solidFill>
                <a:effectLst/>
                <a:latin typeface="Times New Roman" panose="02020603050405020304" pitchFamily="18" charset="0"/>
                <a:ea typeface="Times New Roman" panose="02020603050405020304" pitchFamily="18" charset="0"/>
              </a:rPr>
              <a:t>CMR TECHNICAL CAMPUS</a:t>
            </a:r>
            <a:endParaRPr lang="en-IN" dirty="0">
              <a:latin typeface="Times New Roman" panose="02020603050405020304" pitchFamily="18" charset="0"/>
              <a:ea typeface="Times New Roman" panose="02020603050405020304" pitchFamily="18" charset="0"/>
            </a:endParaRPr>
          </a:p>
          <a:p>
            <a:pPr algn="ctr">
              <a:buNone/>
              <a:tabLst>
                <a:tab pos="2982595" algn="l"/>
              </a:tabLst>
            </a:pPr>
            <a:r>
              <a:rPr lang="en-US" b="1" dirty="0">
                <a:solidFill>
                  <a:srgbClr val="17365D"/>
                </a:solidFill>
                <a:latin typeface="Times New Roman" panose="02020603050405020304" pitchFamily="18" charset="0"/>
                <a:ea typeface="Times New Roman" panose="02020603050405020304" pitchFamily="18" charset="0"/>
              </a:rPr>
              <a:t>UGC AUTONOMOUS</a:t>
            </a:r>
            <a:endParaRPr lang="en-IN" dirty="0">
              <a:latin typeface="Times New Roman" panose="02020603050405020304" pitchFamily="18" charset="0"/>
              <a:ea typeface="Times New Roman" panose="02020603050405020304" pitchFamily="18" charset="0"/>
            </a:endParaRPr>
          </a:p>
          <a:p>
            <a:pPr algn="ctr">
              <a:buNone/>
              <a:tabLst>
                <a:tab pos="2982595" algn="l"/>
              </a:tabLst>
            </a:pPr>
            <a:r>
              <a:rPr lang="en-US" b="1" dirty="0">
                <a:solidFill>
                  <a:srgbClr val="FF0000"/>
                </a:solidFill>
                <a:latin typeface="Times New Roman" panose="02020603050405020304" pitchFamily="18" charset="0"/>
                <a:ea typeface="Times New Roman" panose="02020603050405020304" pitchFamily="18" charset="0"/>
              </a:rPr>
              <a:t>Accredited by NBA &amp; NAAC with ‘A’ Grade</a:t>
            </a:r>
            <a:endParaRPr lang="en-IN" dirty="0">
              <a:latin typeface="Times New Roman" panose="02020603050405020304" pitchFamily="18" charset="0"/>
              <a:ea typeface="Times New Roman" panose="02020603050405020304" pitchFamily="18" charset="0"/>
            </a:endParaRPr>
          </a:p>
          <a:p>
            <a:pPr algn="ctr">
              <a:buNone/>
              <a:tabLst>
                <a:tab pos="2982595" algn="l"/>
              </a:tabLst>
            </a:pPr>
            <a:r>
              <a:rPr lang="en-US" b="1" dirty="0">
                <a:solidFill>
                  <a:srgbClr val="00B050"/>
                </a:solidFill>
                <a:latin typeface="Times New Roman" panose="02020603050405020304" pitchFamily="18" charset="0"/>
                <a:ea typeface="Times New Roman" panose="02020603050405020304" pitchFamily="18" charset="0"/>
              </a:rPr>
              <a:t>Approved by AICTE, New Delhi and JNTU Hyderabad</a:t>
            </a:r>
            <a:endParaRPr lang="en-IN" dirty="0">
              <a:latin typeface="Times New Roman" panose="02020603050405020304" pitchFamily="18" charset="0"/>
              <a:ea typeface="Times New Roman" panose="02020603050405020304" pitchFamily="18" charset="0"/>
            </a:endParaRPr>
          </a:p>
          <a:p>
            <a:endParaRPr lang="en-IN" dirty="0"/>
          </a:p>
        </p:txBody>
      </p:sp>
      <p:sp>
        <p:nvSpPr>
          <p:cNvPr id="5" name="TextBox 4"/>
          <p:cNvSpPr txBox="1"/>
          <p:nvPr/>
        </p:nvSpPr>
        <p:spPr>
          <a:xfrm>
            <a:off x="8035290" y="4722495"/>
            <a:ext cx="3702685" cy="1631216"/>
          </a:xfrm>
          <a:prstGeom prst="rect">
            <a:avLst/>
          </a:prstGeom>
          <a:noFill/>
        </p:spPr>
        <p:txBody>
          <a:bodyPr wrap="square" rtlCol="0">
            <a:spAutoFit/>
          </a:bodyPr>
          <a:lstStyle/>
          <a:p>
            <a:r>
              <a:rPr lang="en-US" sz="2000" b="1" u="sng" dirty="0">
                <a:solidFill>
                  <a:srgbClr val="FF0000"/>
                </a:solidFill>
              </a:rPr>
              <a:t>Presented by : (Batch: 9)</a:t>
            </a:r>
          </a:p>
          <a:p>
            <a:r>
              <a:rPr lang="en-US" altLang="en-US" sz="2000" b="1" dirty="0">
                <a:sym typeface="+mn-ea"/>
              </a:rPr>
              <a:t>Patel Naveen Kumar(247R1A05B3) </a:t>
            </a:r>
            <a:br>
              <a:rPr lang="en-US" altLang="en-US" sz="2000" b="1" dirty="0">
                <a:sym typeface="+mn-ea"/>
              </a:rPr>
            </a:br>
            <a:r>
              <a:rPr lang="en-US" altLang="en-US" sz="2000" b="1" dirty="0">
                <a:sym typeface="+mn-ea"/>
              </a:rPr>
              <a:t>Kancharla Agni(247R1A0591)</a:t>
            </a:r>
          </a:p>
          <a:p>
            <a:r>
              <a:rPr lang="en-US" altLang="en-US" sz="2000" b="1" dirty="0">
                <a:sym typeface="+mn-ea"/>
              </a:rPr>
              <a:t>K Kartheek(247R1A0597)</a:t>
            </a:r>
            <a:endParaRPr lang="en-US" sz="2000" b="1" u="sng" dirty="0">
              <a:solidFill>
                <a:srgbClr val="FF0000"/>
              </a:solidFill>
            </a:endParaRPr>
          </a:p>
        </p:txBody>
      </p:sp>
      <p:pic>
        <p:nvPicPr>
          <p:cNvPr id="3" name="Picture 2" descr="CMRGI Logo New2"/>
          <p:cNvPicPr>
            <a:picLocks noChangeAspect="1"/>
          </p:cNvPicPr>
          <p:nvPr/>
        </p:nvPicPr>
        <p:blipFill>
          <a:blip r:embed="rId2" cstate="print"/>
          <a:srcRect/>
          <a:stretch>
            <a:fillRect/>
          </a:stretch>
        </p:blipFill>
        <p:spPr bwMode="auto">
          <a:xfrm>
            <a:off x="770890" y="378460"/>
            <a:ext cx="1386840" cy="1250950"/>
          </a:xfrm>
          <a:prstGeom prst="rect">
            <a:avLst/>
          </a:prstGeom>
          <a:noFill/>
          <a:ln w="9525">
            <a:noFill/>
            <a:miter lim="800000"/>
            <a:headEnd/>
            <a:tailEnd/>
          </a:ln>
        </p:spPr>
      </p:pic>
      <p:pic>
        <p:nvPicPr>
          <p:cNvPr id="2" name="Picture 1"/>
          <p:cNvPicPr>
            <a:picLocks noChangeAspect="1"/>
          </p:cNvPicPr>
          <p:nvPr/>
        </p:nvPicPr>
        <p:blipFill>
          <a:blip r:embed="rId3"/>
          <a:srcRect/>
          <a:stretch>
            <a:fillRect/>
          </a:stretch>
        </p:blipFill>
        <p:spPr bwMode="auto">
          <a:xfrm>
            <a:off x="9480484" y="658524"/>
            <a:ext cx="1243205" cy="971174"/>
          </a:xfrm>
          <a:prstGeom prst="rect">
            <a:avLst/>
          </a:prstGeom>
          <a:noFill/>
          <a:ln w="9525">
            <a:noFill/>
            <a:miter lim="800000"/>
            <a:headEnd/>
            <a:tailEnd/>
          </a:ln>
        </p:spPr>
      </p:pic>
      <p:sp>
        <p:nvSpPr>
          <p:cNvPr id="6" name="Text Box 5"/>
          <p:cNvSpPr txBox="1"/>
          <p:nvPr/>
        </p:nvSpPr>
        <p:spPr>
          <a:xfrm>
            <a:off x="1045210" y="4758789"/>
            <a:ext cx="4293870" cy="1212215"/>
          </a:xfrm>
          <a:prstGeom prst="rect">
            <a:avLst/>
          </a:prstGeom>
          <a:noFill/>
        </p:spPr>
        <p:txBody>
          <a:bodyPr wrap="square" rtlCol="0" anchor="t">
            <a:noAutofit/>
          </a:bodyPr>
          <a:lstStyle/>
          <a:p>
            <a:pPr marL="0" indent="0" algn="just">
              <a:buNone/>
            </a:pPr>
            <a:r>
              <a:rPr lang="en-US" sz="2000" b="1" dirty="0">
                <a:solidFill>
                  <a:srgbClr val="FF0000"/>
                </a:solidFill>
                <a:latin typeface="Times New Roman" panose="02020603050405020304" pitchFamily="18" charset="0"/>
                <a:cs typeface="Times New Roman" panose="02020603050405020304" pitchFamily="18" charset="0"/>
                <a:sym typeface="+mn-ea"/>
              </a:rPr>
              <a:t>GUIDE:</a:t>
            </a:r>
          </a:p>
          <a:p>
            <a:pPr algn="just"/>
            <a:r>
              <a:rPr lang="en-US" altLang="en-US" sz="2000" b="1" dirty="0">
                <a:sym typeface="+mn-ea"/>
              </a:rPr>
              <a:t>M Nagendra Rao</a:t>
            </a:r>
            <a:endParaRPr lang="en-US" sz="2000" b="1"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sym typeface="+mn-ea"/>
              </a:rPr>
              <a:t>[Assistant Professor</a:t>
            </a:r>
            <a:r>
              <a:rPr lang="en-US" sz="2000" dirty="0">
                <a:sym typeface="+mn-ea"/>
              </a:rPr>
              <a:t>]</a:t>
            </a:r>
          </a:p>
        </p:txBody>
      </p:sp>
      <p:sp>
        <p:nvSpPr>
          <p:cNvPr id="7" name="Title 1"/>
          <p:cNvSpPr txBox="1"/>
          <p:nvPr/>
        </p:nvSpPr>
        <p:spPr>
          <a:xfrm>
            <a:off x="4005990" y="1833785"/>
            <a:ext cx="5575986" cy="416981"/>
          </a:xfrm>
          <a:prstGeom prst="rect">
            <a:avLst/>
          </a:prstGeom>
        </p:spPr>
        <p:txBody>
          <a:bodyPr vert="horz" lIns="68580" tIns="34290" rIns="68580" bIns="3429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endParaRPr lang="en-IN" sz="1800" dirty="0">
              <a:latin typeface="Times New Roman" panose="02020603050405020304" pitchFamily="18" charset="0"/>
              <a:cs typeface="Times New Roman" panose="02020603050405020304" pitchFamily="18" charset="0"/>
            </a:endParaRPr>
          </a:p>
        </p:txBody>
      </p:sp>
      <p:sp>
        <p:nvSpPr>
          <p:cNvPr id="8" name="Text Box 7"/>
          <p:cNvSpPr txBox="1"/>
          <p:nvPr/>
        </p:nvSpPr>
        <p:spPr>
          <a:xfrm>
            <a:off x="2828224" y="1541771"/>
            <a:ext cx="6096000" cy="2714654"/>
          </a:xfrm>
          <a:prstGeom prst="rect">
            <a:avLst/>
          </a:prstGeom>
          <a:noFill/>
        </p:spPr>
        <p:txBody>
          <a:bodyPr wrap="square" rtlCol="0" anchor="t">
            <a:spAutoFit/>
          </a:bodyPr>
          <a:lstStyle/>
          <a:p>
            <a:pPr algn="ctr"/>
            <a:r>
              <a:rPr lang="en-US" b="1" dirty="0"/>
              <a:t>A</a:t>
            </a:r>
            <a:endParaRPr lang="en-IN" b="1" dirty="0"/>
          </a:p>
          <a:p>
            <a:pPr algn="ctr"/>
            <a:r>
              <a:rPr lang="en-US" b="1" dirty="0"/>
              <a:t>Real-Time Research Project On</a:t>
            </a:r>
            <a:endParaRPr lang="en-IN" b="1" dirty="0"/>
          </a:p>
          <a:p>
            <a:pPr algn="ctr"/>
            <a:r>
              <a:rPr lang="en-US" b="1" dirty="0"/>
              <a:t>AD  CLICK  FRAUD DETECTION USING MACHINE LEARNING  AND DEEP LEARNING ALGORITHMS</a:t>
            </a:r>
            <a:endParaRPr lang="en-IN" b="1" dirty="0"/>
          </a:p>
          <a:p>
            <a:pPr algn="ctr"/>
            <a:r>
              <a:rPr lang="en-US" b="1" dirty="0"/>
              <a:t> </a:t>
            </a:r>
            <a:endParaRPr lang="en-IN" b="1" dirty="0"/>
          </a:p>
          <a:p>
            <a:pPr algn="ctr"/>
            <a:r>
              <a:rPr lang="en-US" b="1" dirty="0"/>
              <a:t>BACHELOR OF TECHNOLOGY</a:t>
            </a:r>
            <a:endParaRPr lang="en-IN" b="1" dirty="0"/>
          </a:p>
          <a:p>
            <a:pPr algn="ctr"/>
            <a:r>
              <a:rPr lang="en-US" b="1" dirty="0"/>
              <a:t>In</a:t>
            </a:r>
            <a:endParaRPr lang="en-IN" b="1" dirty="0"/>
          </a:p>
          <a:p>
            <a:pPr algn="ctr"/>
            <a:r>
              <a:rPr lang="en-US" b="1" dirty="0"/>
              <a:t>COMPUTER SCIENCE AND ENGINEERING</a:t>
            </a:r>
            <a:endParaRPr lang="en-IN" b="1" dirty="0"/>
          </a:p>
          <a:p>
            <a:pPr algn="ctr">
              <a:lnSpc>
                <a:spcPct val="150000"/>
              </a:lnSpc>
              <a:buNone/>
            </a:pPr>
            <a:endParaRPr lang="en-US" sz="2000" b="1" dirty="0">
              <a:latin typeface="Times New Roman" panose="02020603050405020304" pitchFamily="18" charset="0"/>
              <a:ea typeface="Times New Roman" panose="02020603050405020304" pitchFamily="18"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Contents:</a:t>
            </a:r>
          </a:p>
        </p:txBody>
      </p:sp>
      <p:sp>
        <p:nvSpPr>
          <p:cNvPr id="3" name="Content Placeholder 2"/>
          <p:cNvSpPr>
            <a:spLocks noGrp="1"/>
          </p:cNvSpPr>
          <p:nvPr>
            <p:ph idx="1"/>
          </p:nvPr>
        </p:nvSpPr>
        <p:spPr>
          <a:xfrm>
            <a:off x="838200" y="1445260"/>
            <a:ext cx="10515600" cy="4351338"/>
          </a:xfrm>
        </p:spPr>
        <p:txBody>
          <a:bodyPr>
            <a:normAutofit fontScale="55000" lnSpcReduction="20000"/>
          </a:bodyPr>
          <a:lstStyle/>
          <a:p>
            <a:pPr>
              <a:buFont typeface="Wingdings" panose="05000000000000000000" charset="0"/>
              <a:buChar char="v"/>
            </a:pPr>
            <a:r>
              <a:rPr lang="en-US" altLang="en-US" dirty="0"/>
              <a:t>Abstract </a:t>
            </a:r>
          </a:p>
          <a:p>
            <a:pPr>
              <a:buFont typeface="Wingdings" panose="05000000000000000000" charset="0"/>
              <a:buChar char="v"/>
            </a:pPr>
            <a:r>
              <a:rPr lang="en-US" altLang="en-US" dirty="0"/>
              <a:t>Introduction </a:t>
            </a:r>
          </a:p>
          <a:p>
            <a:pPr>
              <a:buFont typeface="Wingdings" panose="05000000000000000000" charset="0"/>
              <a:buChar char="v"/>
            </a:pPr>
            <a:r>
              <a:rPr lang="en-US" altLang="en-US" dirty="0"/>
              <a:t>Existing system and Limitations of existing system </a:t>
            </a:r>
          </a:p>
          <a:p>
            <a:pPr>
              <a:buFont typeface="Wingdings" panose="05000000000000000000" charset="0"/>
              <a:buChar char="v"/>
            </a:pPr>
            <a:r>
              <a:rPr lang="en-US" altLang="en-US" dirty="0"/>
              <a:t>Proposed system and Advantages of proposed system</a:t>
            </a:r>
          </a:p>
          <a:p>
            <a:pPr>
              <a:buFont typeface="Wingdings" panose="05000000000000000000" charset="0"/>
              <a:buChar char="v"/>
            </a:pPr>
            <a:r>
              <a:rPr lang="en-US" altLang="en-US" dirty="0"/>
              <a:t>Problem statement </a:t>
            </a:r>
          </a:p>
          <a:p>
            <a:pPr>
              <a:buFont typeface="Wingdings" panose="05000000000000000000" charset="0"/>
              <a:buChar char="v"/>
            </a:pPr>
            <a:r>
              <a:rPr lang="en-US" altLang="en-US" dirty="0"/>
              <a:t>Hardware and software requirements</a:t>
            </a:r>
          </a:p>
          <a:p>
            <a:pPr>
              <a:buFont typeface="Wingdings" panose="05000000000000000000" charset="0"/>
              <a:buChar char="v"/>
            </a:pPr>
            <a:r>
              <a:rPr lang="en-US" altLang="en-US" dirty="0"/>
              <a:t>Novelty of Project</a:t>
            </a:r>
          </a:p>
          <a:p>
            <a:pPr>
              <a:buFont typeface="Wingdings" panose="05000000000000000000" charset="0"/>
              <a:buChar char="v"/>
            </a:pPr>
            <a:r>
              <a:rPr lang="en-US" altLang="en-US" dirty="0"/>
              <a:t>System architecture</a:t>
            </a:r>
          </a:p>
          <a:p>
            <a:pPr>
              <a:buFont typeface="Wingdings" panose="05000000000000000000" charset="0"/>
              <a:buChar char="v"/>
            </a:pPr>
            <a:r>
              <a:rPr lang="en-US" altLang="en-US" dirty="0"/>
              <a:t>UML diagrams</a:t>
            </a:r>
          </a:p>
          <a:p>
            <a:pPr>
              <a:buFont typeface="Wingdings" panose="05000000000000000000" charset="0"/>
              <a:buChar char="v"/>
            </a:pPr>
            <a:r>
              <a:rPr lang="en-US" altLang="en-US" dirty="0"/>
              <a:t>Source Code</a:t>
            </a:r>
          </a:p>
          <a:p>
            <a:pPr>
              <a:buFont typeface="Wingdings" panose="05000000000000000000" charset="0"/>
              <a:buChar char="v"/>
            </a:pPr>
            <a:r>
              <a:rPr lang="en-US" altLang="en-US" dirty="0"/>
              <a:t>Results</a:t>
            </a:r>
          </a:p>
          <a:p>
            <a:pPr>
              <a:buFont typeface="Wingdings" panose="05000000000000000000" charset="0"/>
              <a:buChar char="v"/>
            </a:pPr>
            <a:r>
              <a:rPr lang="en-US" altLang="en-US" dirty="0" err="1"/>
              <a:t>Conlusion</a:t>
            </a:r>
            <a:r>
              <a:rPr lang="en-US" altLang="en-US" dirty="0"/>
              <a:t> and Future Enhancement</a:t>
            </a:r>
          </a:p>
          <a:p>
            <a:pPr>
              <a:buFont typeface="Wingdings" panose="05000000000000000000" charset="0"/>
              <a:buChar char="v"/>
            </a:pPr>
            <a:r>
              <a:rPr lang="en-US" altLang="en-US" dirty="0"/>
              <a:t>References</a:t>
            </a:r>
          </a:p>
          <a:p>
            <a:pPr>
              <a:buFont typeface="Wingdings" panose="05000000000000000000" charset="0"/>
              <a:buChar char="v"/>
            </a:pPr>
            <a:r>
              <a:rPr lang="en-US" altLang="en-US" dirty="0" err="1"/>
              <a:t>Github</a:t>
            </a:r>
            <a:r>
              <a:rPr lang="en-US" altLang="en-US" dirty="0"/>
              <a:t> Link</a:t>
            </a:r>
          </a:p>
          <a:p>
            <a:pPr>
              <a:buFont typeface="Wingdings" panose="05000000000000000000" charset="0"/>
              <a:buChar char="v"/>
            </a:pP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US" b="1" u="sng" dirty="0">
                <a:sym typeface="+mn-ea"/>
              </a:rPr>
              <a:t>Abstract :</a:t>
            </a:r>
            <a:endParaRPr lang="en-US" b="1" u="sng" dirty="0"/>
          </a:p>
        </p:txBody>
      </p:sp>
      <p:sp>
        <p:nvSpPr>
          <p:cNvPr id="6" name="Rectangle 3">
            <a:extLst>
              <a:ext uri="{FF2B5EF4-FFF2-40B4-BE49-F238E27FC236}">
                <a16:creationId xmlns:a16="http://schemas.microsoft.com/office/drawing/2014/main" id="{DE6F5799-5399-048E-D7AE-625235A57099}"/>
              </a:ext>
            </a:extLst>
          </p:cNvPr>
          <p:cNvSpPr>
            <a:spLocks noGrp="1" noChangeArrowheads="1"/>
          </p:cNvSpPr>
          <p:nvPr>
            <p:ph idx="1"/>
          </p:nvPr>
        </p:nvSpPr>
        <p:spPr bwMode="auto">
          <a:xfrm>
            <a:off x="838200" y="2064994"/>
            <a:ext cx="10205719" cy="334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Click fraud is a major problem in online </a:t>
            </a:r>
            <a:r>
              <a:rPr kumimoji="0" lang="en-US" altLang="en-US" sz="2400" b="0" i="0" u="none" strike="noStrike" cap="none" normalizeH="0" baseline="0" dirty="0" err="1">
                <a:ln>
                  <a:noFill/>
                </a:ln>
                <a:solidFill>
                  <a:schemeClr val="tx1"/>
                </a:solidFill>
                <a:effectLst/>
                <a:latin typeface="Arial" panose="020B0604020202020204" pitchFamily="34" charset="0"/>
              </a:rPr>
              <a:t>advertising.Bots</a:t>
            </a:r>
            <a:r>
              <a:rPr kumimoji="0" lang="en-US" altLang="en-US" sz="2400" b="0" i="0" u="none" strike="noStrike" cap="none" normalizeH="0" baseline="0" dirty="0">
                <a:ln>
                  <a:noFill/>
                </a:ln>
                <a:solidFill>
                  <a:schemeClr val="tx1"/>
                </a:solidFill>
                <a:effectLst/>
                <a:latin typeface="Arial" panose="020B0604020202020204" pitchFamily="34" charset="0"/>
              </a:rPr>
              <a:t> and fake users generate invalid </a:t>
            </a:r>
            <a:r>
              <a:rPr kumimoji="0" lang="en-US" altLang="en-US" sz="2400" b="0" i="0" u="none" strike="noStrike" cap="none" normalizeH="0" baseline="0" dirty="0" err="1">
                <a:ln>
                  <a:noFill/>
                </a:ln>
                <a:solidFill>
                  <a:schemeClr val="tx1"/>
                </a:solidFill>
                <a:effectLst/>
                <a:latin typeface="Arial" panose="020B0604020202020204" pitchFamily="34" charset="0"/>
              </a:rPr>
              <a:t>clicks.This</a:t>
            </a:r>
            <a:r>
              <a:rPr kumimoji="0" lang="en-US" altLang="en-US" sz="2400" b="0" i="0" u="none" strike="noStrike" cap="none" normalizeH="0" baseline="0" dirty="0">
                <a:ln>
                  <a:noFill/>
                </a:ln>
                <a:solidFill>
                  <a:schemeClr val="tx1"/>
                </a:solidFill>
                <a:effectLst/>
                <a:latin typeface="Arial" panose="020B0604020202020204" pitchFamily="34" charset="0"/>
              </a:rPr>
              <a:t> causes financial loss to advertisers.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We propose a </a:t>
            </a:r>
            <a:r>
              <a:rPr kumimoji="0" lang="en-US" altLang="en-US" sz="2400" b="1" i="0" u="none" strike="noStrike" cap="none" normalizeH="0" baseline="0" dirty="0">
                <a:ln>
                  <a:noFill/>
                </a:ln>
                <a:solidFill>
                  <a:schemeClr val="tx1"/>
                </a:solidFill>
                <a:effectLst/>
                <a:latin typeface="Arial" panose="020B0604020202020204" pitchFamily="34" charset="0"/>
              </a:rPr>
              <a:t>hybrid ML and Deep Learning system</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Tree-based models detect risky clicks </a:t>
            </a:r>
            <a:r>
              <a:rPr kumimoji="0" lang="en-US" altLang="en-US" sz="2400" b="0" i="0" u="none" strike="noStrike" cap="none" normalizeH="0" baseline="0" dirty="0" err="1">
                <a:ln>
                  <a:noFill/>
                </a:ln>
                <a:solidFill>
                  <a:schemeClr val="tx1"/>
                </a:solidFill>
                <a:effectLst/>
                <a:latin typeface="Arial" panose="020B0604020202020204" pitchFamily="34" charset="0"/>
              </a:rPr>
              <a:t>quickly.LSTM</a:t>
            </a:r>
            <a:r>
              <a:rPr kumimoji="0" lang="en-US" altLang="en-US" sz="2400" b="0" i="0" u="none" strike="noStrike" cap="none" normalizeH="0" baseline="0" dirty="0">
                <a:ln>
                  <a:noFill/>
                </a:ln>
                <a:solidFill>
                  <a:schemeClr val="tx1"/>
                </a:solidFill>
                <a:effectLst/>
                <a:latin typeface="Arial" panose="020B0604020202020204" pitchFamily="34" charset="0"/>
              </a:rPr>
              <a:t> models analyze user behavior over time.</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system improves </a:t>
            </a:r>
            <a:r>
              <a:rPr kumimoji="0" lang="en-US" altLang="en-US" sz="2400" b="1" i="0" u="none" strike="noStrike" cap="none" normalizeH="0" baseline="0" dirty="0">
                <a:ln>
                  <a:noFill/>
                </a:ln>
                <a:solidFill>
                  <a:schemeClr val="tx1"/>
                </a:solidFill>
                <a:effectLst/>
                <a:latin typeface="Arial" panose="020B0604020202020204" pitchFamily="34" charset="0"/>
              </a:rPr>
              <a:t>accuracy and real-time fraud detection</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3610" y="123190"/>
            <a:ext cx="10515600" cy="1325563"/>
          </a:xfrm>
        </p:spPr>
        <p:txBody>
          <a:bodyPr/>
          <a:lstStyle/>
          <a:p>
            <a:pPr algn="ctr"/>
            <a:r>
              <a:rPr lang="en-US" altLang="en-US" b="1" u="sng" dirty="0">
                <a:sym typeface="+mn-ea"/>
              </a:rPr>
              <a:t>Introduction: </a:t>
            </a:r>
            <a:endParaRPr lang="en-US" b="1" u="sng" dirty="0"/>
          </a:p>
        </p:txBody>
      </p:sp>
      <p:sp>
        <p:nvSpPr>
          <p:cNvPr id="5" name="Rectangle 2">
            <a:extLst>
              <a:ext uri="{FF2B5EF4-FFF2-40B4-BE49-F238E27FC236}">
                <a16:creationId xmlns:a16="http://schemas.microsoft.com/office/drawing/2014/main" id="{0ED85C93-3784-A1DA-4E54-B74B743C8E14}"/>
              </a:ext>
            </a:extLst>
          </p:cNvPr>
          <p:cNvSpPr>
            <a:spLocks noGrp="1" noChangeArrowheads="1"/>
          </p:cNvSpPr>
          <p:nvPr>
            <p:ph idx="1"/>
          </p:nvPr>
        </p:nvSpPr>
        <p:spPr bwMode="auto">
          <a:xfrm>
            <a:off x="838200" y="1827311"/>
            <a:ext cx="9410590" cy="334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Online advertising is important for digital business.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Click fraud wastes advertiser money.</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Fraudsters use </a:t>
            </a:r>
            <a:r>
              <a:rPr kumimoji="0" lang="en-US" altLang="en-US" sz="2400" b="1" i="0" u="none" strike="noStrike" cap="none" normalizeH="0" baseline="0" dirty="0">
                <a:ln>
                  <a:noFill/>
                </a:ln>
                <a:solidFill>
                  <a:schemeClr val="tx1"/>
                </a:solidFill>
                <a:effectLst/>
                <a:latin typeface="Arial" panose="020B0604020202020204" pitchFamily="34" charset="0"/>
              </a:rPr>
              <a:t>bots, scripts, and click farms</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Traditional systems cannot detect new fraud patterns.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Machine Learning and Deep Learning help analyze user behavior.</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 </a:t>
            </a:r>
            <a:r>
              <a:rPr kumimoji="0" lang="en-US" altLang="en-US" sz="2400" b="1" i="0" u="none" strike="noStrike" cap="none" normalizeH="0" baseline="0" dirty="0">
                <a:ln>
                  <a:noFill/>
                </a:ln>
                <a:solidFill>
                  <a:schemeClr val="tx1"/>
                </a:solidFill>
                <a:effectLst/>
                <a:latin typeface="Arial" panose="020B0604020202020204" pitchFamily="34" charset="0"/>
              </a:rPr>
              <a:t>hybrid system</a:t>
            </a:r>
            <a:r>
              <a:rPr kumimoji="0" lang="en-US" altLang="en-US" sz="2400" b="0" i="0" u="none" strike="noStrike" cap="none" normalizeH="0" baseline="0" dirty="0">
                <a:ln>
                  <a:noFill/>
                </a:ln>
                <a:solidFill>
                  <a:schemeClr val="tx1"/>
                </a:solidFill>
                <a:effectLst/>
                <a:latin typeface="Arial" panose="020B0604020202020204" pitchFamily="34" charset="0"/>
              </a:rPr>
              <a:t> improves detection accuracy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US" b="1" u="sng" dirty="0"/>
              <a:t>Existing System:</a:t>
            </a:r>
          </a:p>
        </p:txBody>
      </p:sp>
      <p:sp>
        <p:nvSpPr>
          <p:cNvPr id="5" name="TextBox 4">
            <a:extLst>
              <a:ext uri="{FF2B5EF4-FFF2-40B4-BE49-F238E27FC236}">
                <a16:creationId xmlns:a16="http://schemas.microsoft.com/office/drawing/2014/main" id="{D8B419F6-47DB-4525-8C46-100EF6D0C16E}"/>
              </a:ext>
            </a:extLst>
          </p:cNvPr>
          <p:cNvSpPr txBox="1"/>
          <p:nvPr/>
        </p:nvSpPr>
        <p:spPr>
          <a:xfrm>
            <a:off x="1366221" y="1447971"/>
            <a:ext cx="9391426" cy="4424866"/>
          </a:xfrm>
          <a:prstGeom prst="rect">
            <a:avLst/>
          </a:prstGeom>
          <a:noFill/>
        </p:spPr>
        <p:txBody>
          <a:bodyPr wrap="square">
            <a:spAutoFit/>
          </a:bodyPr>
          <a:lstStyle/>
          <a:p>
            <a:pPr>
              <a:lnSpc>
                <a:spcPct val="200000"/>
              </a:lnSpc>
              <a:buFont typeface="Wingdings" panose="05000000000000000000" pitchFamily="2" charset="2"/>
              <a:buChar char="Ø"/>
            </a:pPr>
            <a:r>
              <a:rPr lang="en-IN" sz="2400" b="1" dirty="0"/>
              <a:t>Uses Deep Learning models like:</a:t>
            </a:r>
            <a:endParaRPr lang="en-IN" sz="2400" dirty="0"/>
          </a:p>
          <a:p>
            <a:pPr lvl="1">
              <a:lnSpc>
                <a:spcPct val="200000"/>
              </a:lnSpc>
            </a:pPr>
            <a:r>
              <a:rPr lang="en-IN" sz="2400" b="1" dirty="0"/>
              <a:t>CNN</a:t>
            </a:r>
            <a:r>
              <a:rPr lang="en-IN" sz="2400" dirty="0"/>
              <a:t> – </a:t>
            </a:r>
            <a:r>
              <a:rPr lang="en-IN" sz="2400" dirty="0" err="1"/>
              <a:t>Analyzes</a:t>
            </a:r>
            <a:r>
              <a:rPr lang="en-IN" sz="2400" dirty="0"/>
              <a:t> complex user interaction patterns in click data.</a:t>
            </a:r>
          </a:p>
          <a:p>
            <a:pPr lvl="1">
              <a:lnSpc>
                <a:spcPct val="200000"/>
              </a:lnSpc>
            </a:pPr>
            <a:r>
              <a:rPr lang="en-IN" sz="2400" b="1" dirty="0"/>
              <a:t>DNN</a:t>
            </a:r>
            <a:r>
              <a:rPr lang="en-IN" sz="2400" dirty="0"/>
              <a:t> – Learns hidden patterns in large datasets to detect fraud.</a:t>
            </a:r>
          </a:p>
          <a:p>
            <a:pPr lvl="1">
              <a:lnSpc>
                <a:spcPct val="200000"/>
              </a:lnSpc>
            </a:pPr>
            <a:r>
              <a:rPr lang="en-IN" sz="2400" b="1" dirty="0"/>
              <a:t>RNN</a:t>
            </a:r>
            <a:r>
              <a:rPr lang="en-IN" sz="2400" dirty="0"/>
              <a:t> – </a:t>
            </a:r>
            <a:r>
              <a:rPr lang="en-IN" sz="2400" dirty="0" err="1"/>
              <a:t>Analyzes</a:t>
            </a:r>
            <a:r>
              <a:rPr lang="en-IN" sz="2400" dirty="0"/>
              <a:t> sequences of clicks to detect abnormal user </a:t>
            </a:r>
            <a:r>
              <a:rPr lang="en-IN" sz="2400" dirty="0" err="1"/>
              <a:t>behavior</a:t>
            </a:r>
            <a:r>
              <a:rPr lang="en-IN" sz="2400" dirty="0"/>
              <a:t> over time.</a:t>
            </a:r>
          </a:p>
          <a:p>
            <a:pPr>
              <a:lnSpc>
                <a:spcPct val="200000"/>
              </a:lnSpc>
            </a:pPr>
            <a:endParaRPr lang="en-IN"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8024B10-4903-0F10-D6ED-65644C6C2BD1}"/>
              </a:ext>
            </a:extLst>
          </p:cNvPr>
          <p:cNvSpPr>
            <a:spLocks noGrp="1"/>
          </p:cNvSpPr>
          <p:nvPr>
            <p:ph type="subTitle" idx="1"/>
          </p:nvPr>
        </p:nvSpPr>
        <p:spPr>
          <a:xfrm>
            <a:off x="1041400" y="782320"/>
            <a:ext cx="10109200" cy="4221480"/>
          </a:xfrm>
        </p:spPr>
        <p:txBody>
          <a:bodyPr>
            <a:noAutofit/>
          </a:bodyPr>
          <a:lstStyle/>
          <a:p>
            <a:pPr marL="342900" indent="-342900" algn="just">
              <a:lnSpc>
                <a:spcPct val="150000"/>
              </a:lnSpc>
              <a:buFont typeface="Wingdings" panose="05000000000000000000" pitchFamily="2" charset="2"/>
              <a:buChar char="Ø"/>
            </a:pPr>
            <a:r>
              <a:rPr lang="en-US" b="1" dirty="0"/>
              <a:t>Detects fraud using:</a:t>
            </a:r>
            <a:endParaRPr lang="en-US" dirty="0"/>
          </a:p>
          <a:p>
            <a:pPr marL="800100" lvl="1" indent="-342900" algn="just">
              <a:lnSpc>
                <a:spcPct val="150000"/>
              </a:lnSpc>
              <a:buFont typeface="Wingdings" panose="05000000000000000000" pitchFamily="2" charset="2"/>
              <a:buChar char="§"/>
            </a:pPr>
            <a:r>
              <a:rPr lang="en-US" sz="2400" b="1" dirty="0"/>
              <a:t>IP Address</a:t>
            </a:r>
            <a:r>
              <a:rPr lang="en-US" sz="2400" dirty="0"/>
              <a:t> – Identifies suspicious locations or repeated clicks from the same network.</a:t>
            </a:r>
          </a:p>
          <a:p>
            <a:pPr marL="800100" lvl="1" indent="-342900" algn="just">
              <a:lnSpc>
                <a:spcPct val="150000"/>
              </a:lnSpc>
              <a:buFont typeface="Wingdings" panose="05000000000000000000" pitchFamily="2" charset="2"/>
              <a:buChar char="§"/>
            </a:pPr>
            <a:r>
              <a:rPr lang="en-US" sz="2400" b="1" dirty="0"/>
              <a:t>Device Data</a:t>
            </a:r>
            <a:r>
              <a:rPr lang="en-US" sz="2400" dirty="0"/>
              <a:t> – Checks device type, browser, and system details to find unusual activity.</a:t>
            </a:r>
          </a:p>
          <a:p>
            <a:pPr marL="800100" lvl="1" indent="-342900" algn="just">
              <a:lnSpc>
                <a:spcPct val="150000"/>
              </a:lnSpc>
              <a:buFont typeface="Wingdings" panose="05000000000000000000" pitchFamily="2" charset="2"/>
              <a:buChar char="§"/>
            </a:pPr>
            <a:r>
              <a:rPr lang="en-US" sz="2400" b="1" dirty="0"/>
              <a:t>Click Frequency</a:t>
            </a:r>
            <a:r>
              <a:rPr lang="en-US" sz="2400" dirty="0"/>
              <a:t> – Detects bots by identifying very fast or repeated clicks.</a:t>
            </a:r>
          </a:p>
          <a:p>
            <a:pPr marL="800100" lvl="1" indent="-342900" algn="just">
              <a:lnSpc>
                <a:spcPct val="150000"/>
              </a:lnSpc>
              <a:buFont typeface="Wingdings" panose="05000000000000000000" pitchFamily="2" charset="2"/>
              <a:buChar char="§"/>
            </a:pPr>
            <a:r>
              <a:rPr lang="en-US" sz="2400" b="1" dirty="0"/>
              <a:t>User Behavior</a:t>
            </a:r>
            <a:r>
              <a:rPr lang="en-US" sz="2400" dirty="0"/>
              <a:t> – Analyzes scrolling, mouse movement, and session activity to detect bots.</a:t>
            </a:r>
          </a:p>
          <a:p>
            <a:pPr algn="just">
              <a:lnSpc>
                <a:spcPct val="150000"/>
              </a:lnSpc>
            </a:pPr>
            <a:endParaRPr lang="en-IN" dirty="0"/>
          </a:p>
        </p:txBody>
      </p:sp>
    </p:spTree>
    <p:extLst>
      <p:ext uri="{BB962C8B-B14F-4D97-AF65-F5344CB8AC3E}">
        <p14:creationId xmlns:p14="http://schemas.microsoft.com/office/powerpoint/2010/main" val="2127566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US" b="1" u="sng" dirty="0"/>
              <a:t>Limitations of the Existing System:</a:t>
            </a:r>
          </a:p>
        </p:txBody>
      </p:sp>
      <p:sp>
        <p:nvSpPr>
          <p:cNvPr id="4" name="Rectangle 1">
            <a:extLst>
              <a:ext uri="{FF2B5EF4-FFF2-40B4-BE49-F238E27FC236}">
                <a16:creationId xmlns:a16="http://schemas.microsoft.com/office/drawing/2014/main" id="{02C0A4F4-7CFF-12C9-5F70-A4CE8DCEDCAB}"/>
              </a:ext>
            </a:extLst>
          </p:cNvPr>
          <p:cNvSpPr>
            <a:spLocks noGrp="1" noChangeArrowheads="1"/>
          </p:cNvSpPr>
          <p:nvPr>
            <p:ph idx="1"/>
          </p:nvPr>
        </p:nvSpPr>
        <p:spPr bwMode="auto">
          <a:xfrm>
            <a:off x="746125" y="1840354"/>
            <a:ext cx="7818755" cy="3671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Cannot adapt to </a:t>
            </a:r>
            <a:r>
              <a:rPr kumimoji="0" lang="en-US" altLang="en-US" sz="2400" b="1" i="0" u="none" strike="noStrike" cap="none" normalizeH="0" baseline="0" dirty="0">
                <a:ln>
                  <a:noFill/>
                </a:ln>
                <a:solidFill>
                  <a:schemeClr val="tx1"/>
                </a:solidFill>
                <a:effectLst/>
                <a:latin typeface="Arial" panose="020B0604020202020204" pitchFamily="34" charset="0"/>
              </a:rPr>
              <a:t>new fraud patterns</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Deep learning requires </a:t>
            </a:r>
            <a:r>
              <a:rPr kumimoji="0" lang="en-US" altLang="en-US" sz="2400" b="1" i="0" u="none" strike="noStrike" cap="none" normalizeH="0" baseline="0" dirty="0">
                <a:ln>
                  <a:noFill/>
                </a:ln>
                <a:solidFill>
                  <a:schemeClr val="tx1"/>
                </a:solidFill>
                <a:effectLst/>
                <a:latin typeface="Arial" panose="020B0604020202020204" pitchFamily="34" charset="0"/>
              </a:rPr>
              <a:t>high computation</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Difficult to scale for large ad networks.</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Models may miss </a:t>
            </a:r>
            <a:r>
              <a:rPr kumimoji="0" lang="en-US" altLang="en-US" sz="2400" b="1" i="0" u="none" strike="noStrike" cap="none" normalizeH="0" baseline="0" dirty="0">
                <a:ln>
                  <a:noFill/>
                </a:ln>
                <a:solidFill>
                  <a:schemeClr val="tx1"/>
                </a:solidFill>
                <a:effectLst/>
                <a:latin typeface="Arial" panose="020B0604020202020204" pitchFamily="34" charset="0"/>
              </a:rPr>
              <a:t>new types of fraud</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Mostly monitor </a:t>
            </a:r>
            <a:r>
              <a:rPr kumimoji="0" lang="en-US" altLang="en-US" sz="2400" b="1" i="0" u="none" strike="noStrike" cap="none" normalizeH="0" baseline="0" dirty="0">
                <a:ln>
                  <a:noFill/>
                </a:ln>
                <a:solidFill>
                  <a:schemeClr val="tx1"/>
                </a:solidFill>
                <a:effectLst/>
                <a:latin typeface="Arial" panose="020B0604020202020204" pitchFamily="34" charset="0"/>
              </a:rPr>
              <a:t>server-side data only</a:t>
            </a:r>
            <a:r>
              <a:rPr kumimoji="0" lang="en-US" altLang="en-US" sz="24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en-US" altLang="en-US" b="1" u="sng" dirty="0">
                <a:sym typeface="+mn-ea"/>
              </a:rPr>
              <a:t>Proposed system :</a:t>
            </a:r>
            <a:endParaRPr lang="en-US" b="1" u="sng" dirty="0"/>
          </a:p>
        </p:txBody>
      </p:sp>
      <p:sp>
        <p:nvSpPr>
          <p:cNvPr id="4" name="Rectangle 1">
            <a:extLst>
              <a:ext uri="{FF2B5EF4-FFF2-40B4-BE49-F238E27FC236}">
                <a16:creationId xmlns:a16="http://schemas.microsoft.com/office/drawing/2014/main" id="{F6FD1055-B63F-0720-F18C-D397AC771EA6}"/>
              </a:ext>
            </a:extLst>
          </p:cNvPr>
          <p:cNvSpPr>
            <a:spLocks noGrp="1" noChangeArrowheads="1"/>
          </p:cNvSpPr>
          <p:nvPr>
            <p:ph idx="1"/>
          </p:nvPr>
        </p:nvSpPr>
        <p:spPr bwMode="auto">
          <a:xfrm>
            <a:off x="838200" y="975213"/>
            <a:ext cx="10231120" cy="5177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000" dirty="0"/>
              <a:t>The proposed system is designed to </a:t>
            </a:r>
            <a:r>
              <a:rPr lang="en-US" sz="2000" b="1" dirty="0"/>
              <a:t>detect and prevent click fraud</a:t>
            </a:r>
            <a:r>
              <a:rPr lang="en-US" sz="2000" dirty="0"/>
              <a:t> using a combination of machine learning techniques and behavioral analysis. It integrates real-time detection with deep sequence modeling to ensure both speed and accuracy.</a:t>
            </a:r>
          </a:p>
          <a:p>
            <a:pPr>
              <a:lnSpc>
                <a:spcPct val="150000"/>
              </a:lnSpc>
            </a:pPr>
            <a:r>
              <a:rPr lang="en-US" sz="2000" dirty="0"/>
              <a:t>Introduces an </a:t>
            </a:r>
            <a:r>
              <a:rPr lang="en-US" sz="2000" b="1" dirty="0"/>
              <a:t>Adaptive Hybrid Framework</a:t>
            </a:r>
            <a:r>
              <a:rPr lang="en-US" sz="2000" dirty="0"/>
              <a:t> combining Machine Learning and Deep Learning </a:t>
            </a:r>
          </a:p>
          <a:p>
            <a:pPr>
              <a:lnSpc>
                <a:spcPct val="150000"/>
              </a:lnSpc>
            </a:pPr>
            <a:r>
              <a:rPr lang="en-US" sz="2000" dirty="0"/>
              <a:t>Detects click fraud using </a:t>
            </a:r>
            <a:r>
              <a:rPr lang="en-US" sz="2000" b="1" dirty="0"/>
              <a:t>behavioral and temporal analysis</a:t>
            </a:r>
            <a:r>
              <a:rPr lang="en-US" sz="2000" dirty="0"/>
              <a:t> </a:t>
            </a:r>
          </a:p>
          <a:p>
            <a:pPr>
              <a:lnSpc>
                <a:spcPct val="150000"/>
              </a:lnSpc>
            </a:pPr>
            <a:r>
              <a:rPr lang="en-US" sz="2000" dirty="0"/>
              <a:t>Processes </a:t>
            </a:r>
            <a:r>
              <a:rPr lang="en-US" sz="2000" b="1" dirty="0"/>
              <a:t>user click data in real time</a:t>
            </a:r>
            <a:r>
              <a:rPr lang="en-US" sz="2000" dirty="0"/>
              <a:t> </a:t>
            </a:r>
          </a:p>
          <a:p>
            <a:pPr>
              <a:lnSpc>
                <a:spcPct val="150000"/>
              </a:lnSpc>
            </a:pPr>
            <a:r>
              <a:rPr lang="en-US" sz="2000" dirty="0"/>
              <a:t>Multi-layer architecture improves detection accuracy </a:t>
            </a:r>
            <a:br>
              <a:rPr lang="en-US" sz="2000" dirty="0"/>
            </a:br>
            <a:r>
              <a:rPr lang="en-US" sz="2000" dirty="0"/>
              <a:t> It analyzes how users behave and how their actions change over time, allowing it to detect both simple and advanced fraud efficiently.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A6E55B-D1A4-AB65-7D31-19E75B5DDCB8}"/>
              </a:ext>
            </a:extLst>
          </p:cNvPr>
          <p:cNvSpPr txBox="1"/>
          <p:nvPr/>
        </p:nvSpPr>
        <p:spPr>
          <a:xfrm>
            <a:off x="505610" y="376518"/>
            <a:ext cx="10797092" cy="5587940"/>
          </a:xfrm>
          <a:prstGeom prst="rect">
            <a:avLst/>
          </a:prstGeom>
          <a:noFill/>
        </p:spPr>
        <p:txBody>
          <a:bodyPr wrap="square">
            <a:spAutoFit/>
          </a:bodyPr>
          <a:lstStyle/>
          <a:p>
            <a:pPr>
              <a:lnSpc>
                <a:spcPct val="150000"/>
              </a:lnSpc>
            </a:pPr>
            <a:r>
              <a:rPr lang="en-IN" sz="2000" b="1" dirty="0"/>
              <a:t>Data Collection:</a:t>
            </a:r>
            <a:endParaRPr lang="en-IN" sz="2000" dirty="0"/>
          </a:p>
          <a:p>
            <a:pPr>
              <a:lnSpc>
                <a:spcPct val="150000"/>
              </a:lnSpc>
            </a:pPr>
            <a:r>
              <a:rPr lang="en-IN" sz="2000" dirty="0"/>
              <a:t>IP address, device &amp; browser details </a:t>
            </a:r>
          </a:p>
          <a:p>
            <a:pPr>
              <a:lnSpc>
                <a:spcPct val="150000"/>
              </a:lnSpc>
            </a:pPr>
            <a:r>
              <a:rPr lang="en-IN" sz="2000" dirty="0"/>
              <a:t>Timestamp, click frequency </a:t>
            </a:r>
          </a:p>
          <a:p>
            <a:pPr>
              <a:lnSpc>
                <a:spcPct val="150000"/>
              </a:lnSpc>
            </a:pPr>
            <a:r>
              <a:rPr lang="en-IN" sz="2000" dirty="0"/>
              <a:t>Session duration, user interaction patterns </a:t>
            </a:r>
          </a:p>
          <a:p>
            <a:pPr>
              <a:lnSpc>
                <a:spcPct val="150000"/>
              </a:lnSpc>
            </a:pPr>
            <a:r>
              <a:rPr lang="en-IN" sz="2000" b="1" dirty="0"/>
              <a:t>Feature Engineering:</a:t>
            </a:r>
            <a:endParaRPr lang="en-IN" sz="2000" dirty="0"/>
          </a:p>
          <a:p>
            <a:pPr>
              <a:lnSpc>
                <a:spcPct val="150000"/>
              </a:lnSpc>
            </a:pPr>
            <a:r>
              <a:rPr lang="en-IN" sz="2000" dirty="0"/>
              <a:t>Click interval time </a:t>
            </a:r>
          </a:p>
          <a:p>
            <a:pPr>
              <a:lnSpc>
                <a:spcPct val="150000"/>
              </a:lnSpc>
            </a:pPr>
            <a:r>
              <a:rPr lang="en-IN" sz="2000" dirty="0"/>
              <a:t>Clicks per session </a:t>
            </a:r>
          </a:p>
          <a:p>
            <a:pPr>
              <a:lnSpc>
                <a:spcPct val="150000"/>
              </a:lnSpc>
            </a:pPr>
            <a:r>
              <a:rPr lang="en-IN" sz="2000" dirty="0"/>
              <a:t>Geographic patterns </a:t>
            </a:r>
          </a:p>
          <a:p>
            <a:pPr>
              <a:lnSpc>
                <a:spcPct val="150000"/>
              </a:lnSpc>
            </a:pPr>
            <a:r>
              <a:rPr lang="en-IN" sz="2000" dirty="0"/>
              <a:t>User </a:t>
            </a:r>
            <a:r>
              <a:rPr lang="en-IN" sz="2000" dirty="0" err="1"/>
              <a:t>behavior</a:t>
            </a:r>
            <a:r>
              <a:rPr lang="en-IN" sz="2000" dirty="0"/>
              <a:t> metrics </a:t>
            </a:r>
            <a:br>
              <a:rPr lang="en-IN" sz="2000" dirty="0"/>
            </a:br>
            <a:r>
              <a:rPr lang="en-IN" sz="2000" dirty="0"/>
              <a:t>The system gathers detailed user activity data from multiple sources. This raw data is then transformed into meaningful features (like click speed or session </a:t>
            </a:r>
            <a:r>
              <a:rPr lang="en-IN" sz="2000" dirty="0" err="1"/>
              <a:t>behavior</a:t>
            </a:r>
            <a:r>
              <a:rPr lang="en-IN" sz="2000" dirty="0"/>
              <a:t>), which help the models easily identify unusual or suspicious activity.</a:t>
            </a:r>
          </a:p>
        </p:txBody>
      </p:sp>
    </p:spTree>
    <p:extLst>
      <p:ext uri="{BB962C8B-B14F-4D97-AF65-F5344CB8AC3E}">
        <p14:creationId xmlns:p14="http://schemas.microsoft.com/office/powerpoint/2010/main" val="1436370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F8E257-FF10-405E-A4AA-D5AAF4763F25}"/>
              </a:ext>
            </a:extLst>
          </p:cNvPr>
          <p:cNvSpPr txBox="1"/>
          <p:nvPr/>
        </p:nvSpPr>
        <p:spPr>
          <a:xfrm>
            <a:off x="559398" y="346730"/>
            <a:ext cx="10843708" cy="6511270"/>
          </a:xfrm>
          <a:prstGeom prst="rect">
            <a:avLst/>
          </a:prstGeom>
          <a:noFill/>
        </p:spPr>
        <p:txBody>
          <a:bodyPr wrap="square">
            <a:spAutoFit/>
          </a:bodyPr>
          <a:lstStyle/>
          <a:p>
            <a:pPr>
              <a:lnSpc>
                <a:spcPct val="150000"/>
              </a:lnSpc>
            </a:pPr>
            <a:r>
              <a:rPr lang="en-US" sz="2000" b="1" dirty="0"/>
              <a:t>Detection Layers</a:t>
            </a:r>
          </a:p>
          <a:p>
            <a:pPr>
              <a:lnSpc>
                <a:spcPct val="150000"/>
              </a:lnSpc>
            </a:pPr>
            <a:r>
              <a:rPr lang="en-US" sz="2000" b="1" dirty="0"/>
              <a:t>Machine Learning Layer:</a:t>
            </a:r>
            <a:endParaRPr lang="en-US" sz="2000" dirty="0"/>
          </a:p>
          <a:p>
            <a:pPr>
              <a:lnSpc>
                <a:spcPct val="150000"/>
              </a:lnSpc>
            </a:pPr>
            <a:r>
              <a:rPr lang="en-US" sz="2000" dirty="0"/>
              <a:t>Decision Tree, Random Forest, Gradient Boosting </a:t>
            </a:r>
          </a:p>
          <a:p>
            <a:pPr>
              <a:lnSpc>
                <a:spcPct val="150000"/>
              </a:lnSpc>
            </a:pPr>
            <a:r>
              <a:rPr lang="en-US" sz="2000" dirty="0"/>
              <a:t>Quickly identifies high-risk clicks </a:t>
            </a:r>
          </a:p>
          <a:p>
            <a:pPr>
              <a:lnSpc>
                <a:spcPct val="150000"/>
              </a:lnSpc>
            </a:pPr>
            <a:r>
              <a:rPr lang="en-US" sz="2000" b="1" dirty="0"/>
              <a:t>Deep Learning Layer:</a:t>
            </a:r>
            <a:endParaRPr lang="en-US" sz="2000" dirty="0"/>
          </a:p>
          <a:p>
            <a:pPr>
              <a:lnSpc>
                <a:spcPct val="150000"/>
              </a:lnSpc>
            </a:pPr>
            <a:r>
              <a:rPr lang="en-US" sz="2000" dirty="0"/>
              <a:t>LSTM (Long Short-Term Memory) </a:t>
            </a:r>
          </a:p>
          <a:p>
            <a:pPr>
              <a:lnSpc>
                <a:spcPct val="150000"/>
              </a:lnSpc>
            </a:pPr>
            <a:r>
              <a:rPr lang="en-US" sz="2000" dirty="0"/>
              <a:t>Detects: </a:t>
            </a:r>
          </a:p>
          <a:p>
            <a:pPr lvl="1">
              <a:lnSpc>
                <a:spcPct val="150000"/>
              </a:lnSpc>
            </a:pPr>
            <a:r>
              <a:rPr lang="en-US" sz="2000" dirty="0"/>
              <a:t>Time-based patterns </a:t>
            </a:r>
          </a:p>
          <a:p>
            <a:pPr lvl="1">
              <a:lnSpc>
                <a:spcPct val="150000"/>
              </a:lnSpc>
            </a:pPr>
            <a:r>
              <a:rPr lang="en-US" sz="2000" dirty="0"/>
              <a:t>Repeated click sequences </a:t>
            </a:r>
          </a:p>
          <a:p>
            <a:pPr lvl="1">
              <a:lnSpc>
                <a:spcPct val="150000"/>
              </a:lnSpc>
            </a:pPr>
            <a:r>
              <a:rPr lang="en-US" sz="2000" dirty="0"/>
              <a:t>Bot-like behavior </a:t>
            </a:r>
            <a:br>
              <a:rPr lang="en-US" sz="2000" dirty="0"/>
            </a:br>
            <a:r>
              <a:rPr lang="en-US" sz="2000" dirty="0"/>
              <a:t>The first layer uses fast ML models to detect obvious fraud instantly. The second layer uses LSTM to analyze sequences of clicks over time, making it effective for detecting complex and hidden fraud patterns.</a:t>
            </a:r>
          </a:p>
          <a:p>
            <a:pPr>
              <a:lnSpc>
                <a:spcPct val="150000"/>
              </a:lnSpc>
            </a:pPr>
            <a:endParaRPr lang="en-US" sz="2000" dirty="0"/>
          </a:p>
        </p:txBody>
      </p:sp>
    </p:spTree>
    <p:extLst>
      <p:ext uri="{BB962C8B-B14F-4D97-AF65-F5344CB8AC3E}">
        <p14:creationId xmlns:p14="http://schemas.microsoft.com/office/powerpoint/2010/main" val="2489023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US" b="1" u="sng" dirty="0">
                <a:sym typeface="+mn-ea"/>
              </a:rPr>
              <a:t>Advantages of proposed system :</a:t>
            </a:r>
            <a:endParaRPr lang="en-US" b="1" u="sng" dirty="0"/>
          </a:p>
        </p:txBody>
      </p:sp>
      <p:sp>
        <p:nvSpPr>
          <p:cNvPr id="3" name="Content Placeholder 2"/>
          <p:cNvSpPr>
            <a:spLocks noGrp="1"/>
          </p:cNvSpPr>
          <p:nvPr>
            <p:ph idx="1"/>
          </p:nvPr>
        </p:nvSpPr>
        <p:spPr>
          <a:xfrm>
            <a:off x="838200" y="1690688"/>
            <a:ext cx="10515600" cy="4351338"/>
          </a:xfrm>
        </p:spPr>
        <p:txBody>
          <a:bodyPr>
            <a:normAutofit/>
          </a:bodyPr>
          <a:lstStyle/>
          <a:p>
            <a:pPr>
              <a:lnSpc>
                <a:spcPct val="150000"/>
              </a:lnSpc>
            </a:pPr>
            <a:r>
              <a:rPr lang="en-US" sz="2000" dirty="0"/>
              <a:t>High detection accuracy</a:t>
            </a:r>
            <a:endParaRPr lang="en-IN" sz="2000" dirty="0"/>
          </a:p>
          <a:p>
            <a:pPr>
              <a:lnSpc>
                <a:spcPct val="150000"/>
              </a:lnSpc>
            </a:pPr>
            <a:r>
              <a:rPr lang="en-US" sz="2000" dirty="0"/>
              <a:t>Reduced false positives and false negatives</a:t>
            </a:r>
            <a:endParaRPr lang="en-IN" sz="2000" dirty="0"/>
          </a:p>
          <a:p>
            <a:pPr>
              <a:lnSpc>
                <a:spcPct val="150000"/>
              </a:lnSpc>
            </a:pPr>
            <a:r>
              <a:rPr lang="en-US" sz="2000" dirty="0"/>
              <a:t>Real-time fraud detection</a:t>
            </a:r>
            <a:endParaRPr lang="en-IN" sz="2000" dirty="0"/>
          </a:p>
          <a:p>
            <a:pPr>
              <a:lnSpc>
                <a:spcPct val="150000"/>
              </a:lnSpc>
            </a:pPr>
            <a:r>
              <a:rPr lang="en-US" sz="2000" dirty="0"/>
              <a:t>Ability to detect complex and evolving fraud patterns</a:t>
            </a:r>
            <a:endParaRPr lang="en-IN" sz="2000" dirty="0"/>
          </a:p>
          <a:p>
            <a:pPr>
              <a:lnSpc>
                <a:spcPct val="150000"/>
              </a:lnSpc>
            </a:pPr>
            <a:r>
              <a:rPr lang="en-US" sz="2000" dirty="0"/>
              <a:t>Scalable for large dataset.</a:t>
            </a:r>
            <a:endParaRPr lang="en-IN" sz="2000" dirty="0"/>
          </a:p>
          <a:p>
            <a:pPr>
              <a:lnSpc>
                <a:spcPct val="150000"/>
              </a:lnSpc>
            </a:pPr>
            <a:r>
              <a:rPr lang="en-US" sz="2000" dirty="0"/>
              <a:t>Combines interpretability of machine learning with the intelligence of deep learning</a:t>
            </a:r>
            <a:endParaRPr lang="en-IN" sz="2000" dirty="0"/>
          </a:p>
          <a:p>
            <a:pPr>
              <a:lnSpc>
                <a:spcPct val="150000"/>
              </a:lnSpc>
            </a:pPr>
            <a:r>
              <a:rPr lang="en-US" sz="2000" dirty="0"/>
              <a:t>Adaptive learning capability</a:t>
            </a:r>
            <a:endParaRPr lang="en-IN" sz="2000" dirty="0"/>
          </a:p>
          <a:p>
            <a:pPr>
              <a:lnSpc>
                <a:spcPct val="150000"/>
              </a:lnSpc>
            </a:pP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US" b="1" u="sng" dirty="0"/>
              <a:t>Problem Statement:</a:t>
            </a:r>
          </a:p>
        </p:txBody>
      </p:sp>
      <p:sp>
        <p:nvSpPr>
          <p:cNvPr id="7" name="Rectangle 4">
            <a:extLst>
              <a:ext uri="{FF2B5EF4-FFF2-40B4-BE49-F238E27FC236}">
                <a16:creationId xmlns:a16="http://schemas.microsoft.com/office/drawing/2014/main" id="{FE002305-30AE-0942-3DE1-AE08417A436F}"/>
              </a:ext>
            </a:extLst>
          </p:cNvPr>
          <p:cNvSpPr>
            <a:spLocks noGrp="1" noChangeArrowheads="1"/>
          </p:cNvSpPr>
          <p:nvPr>
            <p:ph idx="1"/>
          </p:nvPr>
        </p:nvSpPr>
        <p:spPr bwMode="auto">
          <a:xfrm>
            <a:off x="838200" y="1690688"/>
            <a:ext cx="9187772" cy="2932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Click fraud is increasing due to bots and click farms.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Existing ML or DL models alone are not enough.</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They fail to detect </a:t>
            </a:r>
            <a:r>
              <a:rPr kumimoji="0" lang="en-US" altLang="en-US" sz="2400" b="1" i="0" u="none" strike="noStrike" cap="none" normalizeH="0" baseline="0" dirty="0">
                <a:ln>
                  <a:noFill/>
                </a:ln>
                <a:solidFill>
                  <a:schemeClr val="tx1"/>
                </a:solidFill>
                <a:effectLst/>
                <a:latin typeface="Arial" panose="020B0604020202020204" pitchFamily="34" charset="0"/>
              </a:rPr>
              <a:t>complex and evolving fraud patterns</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 </a:t>
            </a:r>
            <a:r>
              <a:rPr kumimoji="0" lang="en-US" altLang="en-US" sz="2400" b="1" i="0" u="none" strike="noStrike" cap="none" normalizeH="0" baseline="0" dirty="0">
                <a:ln>
                  <a:noFill/>
                </a:ln>
                <a:solidFill>
                  <a:schemeClr val="tx1"/>
                </a:solidFill>
                <a:effectLst/>
                <a:latin typeface="Arial" panose="020B0604020202020204" pitchFamily="34" charset="0"/>
              </a:rPr>
              <a:t>hybrid and adaptive system</a:t>
            </a:r>
            <a:r>
              <a:rPr kumimoji="0" lang="en-US" altLang="en-US" sz="2400" b="0" i="0" u="none" strike="noStrike" cap="none" normalizeH="0" baseline="0" dirty="0">
                <a:ln>
                  <a:noFill/>
                </a:ln>
                <a:solidFill>
                  <a:schemeClr val="tx1"/>
                </a:solidFill>
                <a:effectLst/>
                <a:latin typeface="Arial" panose="020B0604020202020204" pitchFamily="34" charset="0"/>
              </a:rPr>
              <a:t> is needed for real-time detection.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5E1317-A811-CB73-699D-C73A0FFF66BF}"/>
              </a:ext>
            </a:extLst>
          </p:cNvPr>
          <p:cNvSpPr>
            <a:spLocks noGrp="1"/>
          </p:cNvSpPr>
          <p:nvPr>
            <p:ph idx="1"/>
          </p:nvPr>
        </p:nvSpPr>
        <p:spPr>
          <a:xfrm>
            <a:off x="561109" y="772680"/>
            <a:ext cx="10515600" cy="4351338"/>
          </a:xfrm>
        </p:spPr>
        <p:txBody>
          <a:bodyPr>
            <a:normAutofit fontScale="92500" lnSpcReduction="20000"/>
          </a:bodyPr>
          <a:lstStyle/>
          <a:p>
            <a:pPr marL="0" indent="0" algn="ctr">
              <a:buNone/>
            </a:pPr>
            <a:r>
              <a:rPr lang="en-US" sz="3200" b="1" u="sng" dirty="0"/>
              <a:t>Hardware Requirements</a:t>
            </a:r>
            <a:endParaRPr lang="en-US" sz="4400" b="1" u="sng" dirty="0"/>
          </a:p>
          <a:p>
            <a:r>
              <a:rPr lang="en-US" dirty="0"/>
              <a:t>Processor: Intel Core i5 or higher </a:t>
            </a:r>
          </a:p>
          <a:p>
            <a:r>
              <a:rPr lang="en-US" dirty="0"/>
              <a:t>RAM: Minimum 8 GB </a:t>
            </a:r>
          </a:p>
          <a:p>
            <a:r>
              <a:rPr lang="en-US" dirty="0"/>
              <a:t>Storage: Minimum 256 GB SSD </a:t>
            </a:r>
          </a:p>
          <a:p>
            <a:r>
              <a:rPr lang="en-US" dirty="0"/>
              <a:t>Internet connectivity for data collection &amp; updates</a:t>
            </a:r>
          </a:p>
          <a:p>
            <a:pPr marL="0" indent="0">
              <a:buNone/>
            </a:pPr>
            <a:r>
              <a:rPr lang="en-US" dirty="0"/>
              <a:t>			</a:t>
            </a:r>
          </a:p>
          <a:p>
            <a:pPr marL="0" indent="0">
              <a:buNone/>
            </a:pPr>
            <a:r>
              <a:rPr lang="en-IN" b="1" dirty="0"/>
              <a:t>			   </a:t>
            </a:r>
            <a:r>
              <a:rPr lang="en-IN" sz="3200" b="1" u="sng" dirty="0"/>
              <a:t>Software Requirements</a:t>
            </a:r>
          </a:p>
          <a:p>
            <a:r>
              <a:rPr lang="en-IN" dirty="0"/>
              <a:t>Operating System: Windows / Linux / macOS </a:t>
            </a:r>
          </a:p>
          <a:p>
            <a:r>
              <a:rPr lang="en-IN" dirty="0"/>
              <a:t>Programming Language: Python </a:t>
            </a:r>
          </a:p>
          <a:p>
            <a:r>
              <a:rPr lang="en-IN" dirty="0"/>
              <a:t>Development Tools: </a:t>
            </a:r>
            <a:r>
              <a:rPr lang="en-IN" dirty="0" err="1"/>
              <a:t>Jupyter</a:t>
            </a:r>
            <a:r>
              <a:rPr lang="en-IN" dirty="0"/>
              <a:t> Notebook / VS Code</a:t>
            </a:r>
          </a:p>
          <a:p>
            <a:endParaRPr lang="en-IN" dirty="0"/>
          </a:p>
        </p:txBody>
      </p:sp>
    </p:spTree>
    <p:extLst>
      <p:ext uri="{BB962C8B-B14F-4D97-AF65-F5344CB8AC3E}">
        <p14:creationId xmlns:p14="http://schemas.microsoft.com/office/powerpoint/2010/main" val="616173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EA5577-8881-B8D7-A506-8CEF706F74AB}"/>
              </a:ext>
            </a:extLst>
          </p:cNvPr>
          <p:cNvSpPr>
            <a:spLocks noGrp="1"/>
          </p:cNvSpPr>
          <p:nvPr>
            <p:ph idx="1"/>
          </p:nvPr>
        </p:nvSpPr>
        <p:spPr>
          <a:xfrm>
            <a:off x="838200" y="214745"/>
            <a:ext cx="10515600" cy="5962218"/>
          </a:xfrm>
        </p:spPr>
        <p:txBody>
          <a:bodyPr/>
          <a:lstStyle/>
          <a:p>
            <a:pPr marL="0" indent="0">
              <a:buNone/>
            </a:pPr>
            <a:r>
              <a:rPr lang="en-IN" sz="3000" dirty="0"/>
              <a:t>			</a:t>
            </a:r>
            <a:r>
              <a:rPr lang="en-IN" sz="3000" b="1" u="sng" dirty="0"/>
              <a:t>Libraries &amp; Frameworks</a:t>
            </a:r>
          </a:p>
          <a:p>
            <a:r>
              <a:rPr lang="en-IN" dirty="0"/>
              <a:t>Pandas &amp; NumPy → Data processing </a:t>
            </a:r>
          </a:p>
          <a:p>
            <a:r>
              <a:rPr lang="en-IN" dirty="0"/>
              <a:t>Scikit-learn → Machine Learning </a:t>
            </a:r>
          </a:p>
          <a:p>
            <a:r>
              <a:rPr lang="en-IN" dirty="0"/>
              <a:t>TensorFlow / </a:t>
            </a:r>
            <a:r>
              <a:rPr lang="en-IN" dirty="0" err="1"/>
              <a:t>PyTorch</a:t>
            </a:r>
            <a:r>
              <a:rPr lang="en-IN" dirty="0"/>
              <a:t> → Deep Learning </a:t>
            </a:r>
          </a:p>
          <a:p>
            <a:r>
              <a:rPr lang="en-IN" dirty="0"/>
              <a:t>Matplotlib → Data visualization </a:t>
            </a:r>
            <a:br>
              <a:rPr lang="en-IN" dirty="0"/>
            </a:br>
            <a:endParaRPr lang="en-IN" dirty="0"/>
          </a:p>
          <a:p>
            <a:pPr marL="0" indent="0">
              <a:buNone/>
            </a:pPr>
            <a:r>
              <a:rPr lang="en-IN" b="1" dirty="0"/>
              <a:t> 			</a:t>
            </a:r>
            <a:r>
              <a:rPr lang="en-IN" sz="3000" b="1" u="sng" dirty="0"/>
              <a:t>Database &amp; Backend</a:t>
            </a:r>
          </a:p>
          <a:p>
            <a:r>
              <a:rPr lang="en-IN" dirty="0"/>
              <a:t>Database: MySQL / SQLite </a:t>
            </a:r>
          </a:p>
          <a:p>
            <a:r>
              <a:rPr lang="en-IN" dirty="0"/>
              <a:t>Framework: Django </a:t>
            </a:r>
          </a:p>
          <a:p>
            <a:r>
              <a:rPr lang="en-IN" dirty="0"/>
              <a:t>Handles data storage, routing &amp; backend logic </a:t>
            </a:r>
          </a:p>
          <a:p>
            <a:endParaRPr lang="en-IN" dirty="0"/>
          </a:p>
        </p:txBody>
      </p:sp>
    </p:spTree>
    <p:extLst>
      <p:ext uri="{BB962C8B-B14F-4D97-AF65-F5344CB8AC3E}">
        <p14:creationId xmlns:p14="http://schemas.microsoft.com/office/powerpoint/2010/main" val="1819402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82C1A-ED3A-8AC3-5C21-AA07C41D6FA7}"/>
              </a:ext>
            </a:extLst>
          </p:cNvPr>
          <p:cNvSpPr>
            <a:spLocks noGrp="1"/>
          </p:cNvSpPr>
          <p:nvPr>
            <p:ph type="title"/>
          </p:nvPr>
        </p:nvSpPr>
        <p:spPr/>
        <p:txBody>
          <a:bodyPr/>
          <a:lstStyle/>
          <a:p>
            <a:pPr algn="ctr"/>
            <a:r>
              <a:rPr lang="en-IN" b="1" u="sng" dirty="0"/>
              <a:t>Novelty of project</a:t>
            </a:r>
          </a:p>
        </p:txBody>
      </p:sp>
      <p:sp>
        <p:nvSpPr>
          <p:cNvPr id="3" name="Content Placeholder 2">
            <a:extLst>
              <a:ext uri="{FF2B5EF4-FFF2-40B4-BE49-F238E27FC236}">
                <a16:creationId xmlns:a16="http://schemas.microsoft.com/office/drawing/2014/main" id="{CCB94BB3-4FAF-5C44-C5E8-6B00F9A9E3CC}"/>
              </a:ext>
            </a:extLst>
          </p:cNvPr>
          <p:cNvSpPr>
            <a:spLocks noGrp="1"/>
          </p:cNvSpPr>
          <p:nvPr>
            <p:ph idx="1"/>
          </p:nvPr>
        </p:nvSpPr>
        <p:spPr/>
        <p:txBody>
          <a:bodyPr/>
          <a:lstStyle/>
          <a:p>
            <a:r>
              <a:rPr lang="en-IN" dirty="0"/>
              <a:t>Hybrid ML + LSTM model for accurate fraud detection </a:t>
            </a:r>
          </a:p>
          <a:p>
            <a:r>
              <a:rPr lang="en-IN" dirty="0"/>
              <a:t>Multi-layer system for simple and complex fraud patterns </a:t>
            </a:r>
          </a:p>
          <a:p>
            <a:r>
              <a:rPr lang="en-IN" dirty="0"/>
              <a:t>Uses </a:t>
            </a:r>
            <a:r>
              <a:rPr lang="en-IN" dirty="0" err="1"/>
              <a:t>behavioral</a:t>
            </a:r>
            <a:r>
              <a:rPr lang="en-IN" dirty="0"/>
              <a:t> and temporal data together </a:t>
            </a:r>
          </a:p>
          <a:p>
            <a:r>
              <a:rPr lang="en-IN" dirty="0"/>
              <a:t>Real-time detection with adaptive learning </a:t>
            </a:r>
          </a:p>
          <a:p>
            <a:r>
              <a:rPr lang="en-IN" dirty="0"/>
              <a:t>Combines client-side and server-side analysis </a:t>
            </a:r>
          </a:p>
          <a:p>
            <a:endParaRPr lang="en-IN" dirty="0"/>
          </a:p>
        </p:txBody>
      </p:sp>
    </p:spTree>
    <p:extLst>
      <p:ext uri="{BB962C8B-B14F-4D97-AF65-F5344CB8AC3E}">
        <p14:creationId xmlns:p14="http://schemas.microsoft.com/office/powerpoint/2010/main" val="2913799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US" b="1" u="sng" dirty="0"/>
              <a:t>System architecture:</a:t>
            </a:r>
          </a:p>
        </p:txBody>
      </p:sp>
      <p:pic>
        <p:nvPicPr>
          <p:cNvPr id="9" name="Content Placeholder 8"/>
          <p:cNvPicPr>
            <a:picLocks noGrp="1" noChangeAspect="1"/>
          </p:cNvPicPr>
          <p:nvPr>
            <p:ph idx="1"/>
          </p:nvPr>
        </p:nvPicPr>
        <p:blipFill>
          <a:blip r:embed="rId2"/>
          <a:stretch>
            <a:fillRect/>
          </a:stretch>
        </p:blipFill>
        <p:spPr>
          <a:xfrm>
            <a:off x="3321050" y="1407160"/>
            <a:ext cx="5330825" cy="52673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08888-6EDA-3C12-CFFD-C614D63F5E2B}"/>
              </a:ext>
            </a:extLst>
          </p:cNvPr>
          <p:cNvSpPr>
            <a:spLocks noGrp="1"/>
          </p:cNvSpPr>
          <p:nvPr>
            <p:ph type="title"/>
          </p:nvPr>
        </p:nvSpPr>
        <p:spPr>
          <a:xfrm>
            <a:off x="746760" y="838518"/>
            <a:ext cx="10515600" cy="1914842"/>
          </a:xfrm>
        </p:spPr>
        <p:txBody>
          <a:bodyPr>
            <a:noAutofit/>
          </a:bodyPr>
          <a:lstStyle/>
          <a:p>
            <a:pPr>
              <a:lnSpc>
                <a:spcPct val="150000"/>
              </a:lnSpc>
            </a:pPr>
            <a:r>
              <a:rPr lang="en-US" sz="3200" b="1" u="sng" dirty="0"/>
              <a:t>UML Diagrams:</a:t>
            </a:r>
            <a:br>
              <a:rPr lang="en-IN" sz="3200" dirty="0"/>
            </a:br>
            <a:r>
              <a:rPr lang="en-US" sz="3200" dirty="0"/>
              <a:t> Use Case Diagram</a:t>
            </a:r>
            <a:br>
              <a:rPr lang="en-IN" sz="3200" dirty="0"/>
            </a:br>
            <a:endParaRPr lang="en-IN" sz="3200" dirty="0"/>
          </a:p>
        </p:txBody>
      </p:sp>
      <p:pic>
        <p:nvPicPr>
          <p:cNvPr id="10" name="Picture 9" descr="IMG_256">
            <a:extLst>
              <a:ext uri="{FF2B5EF4-FFF2-40B4-BE49-F238E27FC236}">
                <a16:creationId xmlns:a16="http://schemas.microsoft.com/office/drawing/2014/main" id="{F81E8851-AC07-17BE-85BA-065A714C141D}"/>
              </a:ext>
            </a:extLst>
          </p:cNvPr>
          <p:cNvPicPr>
            <a:picLocks noChangeAspect="1"/>
          </p:cNvPicPr>
          <p:nvPr/>
        </p:nvPicPr>
        <p:blipFill>
          <a:blip r:embed="rId2"/>
          <a:stretch>
            <a:fillRect/>
          </a:stretch>
        </p:blipFill>
        <p:spPr>
          <a:xfrm>
            <a:off x="4051300" y="945425"/>
            <a:ext cx="7124700" cy="5216298"/>
          </a:xfrm>
          <a:prstGeom prst="rect">
            <a:avLst/>
          </a:prstGeom>
          <a:noFill/>
          <a:ln w="9525">
            <a:noFill/>
          </a:ln>
        </p:spPr>
      </p:pic>
    </p:spTree>
    <p:extLst>
      <p:ext uri="{BB962C8B-B14F-4D97-AF65-F5344CB8AC3E}">
        <p14:creationId xmlns:p14="http://schemas.microsoft.com/office/powerpoint/2010/main" val="1966768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DF7D13-82A3-F2A4-D26A-8C8A4F805FD7}"/>
              </a:ext>
            </a:extLst>
          </p:cNvPr>
          <p:cNvSpPr>
            <a:spLocks noGrp="1"/>
          </p:cNvSpPr>
          <p:nvPr>
            <p:ph idx="1"/>
          </p:nvPr>
        </p:nvSpPr>
        <p:spPr>
          <a:xfrm>
            <a:off x="838200" y="1825625"/>
            <a:ext cx="4455160" cy="2756535"/>
          </a:xfrm>
        </p:spPr>
        <p:txBody>
          <a:bodyPr/>
          <a:lstStyle/>
          <a:p>
            <a:r>
              <a:rPr lang="en-US" dirty="0"/>
              <a:t>Class Diagram:</a:t>
            </a:r>
            <a:endParaRPr lang="en-IN" dirty="0"/>
          </a:p>
          <a:p>
            <a:endParaRPr lang="en-IN" dirty="0"/>
          </a:p>
        </p:txBody>
      </p:sp>
      <p:pic>
        <p:nvPicPr>
          <p:cNvPr id="4" name="Picture 3" descr="IMG_256">
            <a:extLst>
              <a:ext uri="{FF2B5EF4-FFF2-40B4-BE49-F238E27FC236}">
                <a16:creationId xmlns:a16="http://schemas.microsoft.com/office/drawing/2014/main" id="{1CC8CA8C-BEF9-FDB0-D986-F7E918C0873E}"/>
              </a:ext>
            </a:extLst>
          </p:cNvPr>
          <p:cNvPicPr>
            <a:picLocks noChangeAspect="1"/>
          </p:cNvPicPr>
          <p:nvPr/>
        </p:nvPicPr>
        <p:blipFill>
          <a:blip r:embed="rId2"/>
          <a:stretch>
            <a:fillRect/>
          </a:stretch>
        </p:blipFill>
        <p:spPr>
          <a:xfrm>
            <a:off x="4297680" y="274002"/>
            <a:ext cx="5486400" cy="6086475"/>
          </a:xfrm>
          <a:prstGeom prst="rect">
            <a:avLst/>
          </a:prstGeom>
          <a:noFill/>
          <a:ln w="9525">
            <a:noFill/>
          </a:ln>
        </p:spPr>
      </p:pic>
    </p:spTree>
    <p:extLst>
      <p:ext uri="{BB962C8B-B14F-4D97-AF65-F5344CB8AC3E}">
        <p14:creationId xmlns:p14="http://schemas.microsoft.com/office/powerpoint/2010/main" val="3592533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AA2D4E-F4FF-E75F-3AD1-B46AB9DA86E9}"/>
              </a:ext>
            </a:extLst>
          </p:cNvPr>
          <p:cNvSpPr>
            <a:spLocks noGrp="1"/>
          </p:cNvSpPr>
          <p:nvPr>
            <p:ph idx="1"/>
          </p:nvPr>
        </p:nvSpPr>
        <p:spPr>
          <a:xfrm>
            <a:off x="838200" y="1825625"/>
            <a:ext cx="5095240" cy="2187575"/>
          </a:xfrm>
        </p:spPr>
        <p:txBody>
          <a:bodyPr/>
          <a:lstStyle/>
          <a:p>
            <a:r>
              <a:rPr lang="en-US" dirty="0"/>
              <a:t>Activity Diagram:</a:t>
            </a:r>
            <a:endParaRPr lang="en-IN" dirty="0"/>
          </a:p>
          <a:p>
            <a:endParaRPr lang="en-IN" dirty="0"/>
          </a:p>
        </p:txBody>
      </p:sp>
      <p:pic>
        <p:nvPicPr>
          <p:cNvPr id="4" name="Picture 3" descr="IMG_256">
            <a:extLst>
              <a:ext uri="{FF2B5EF4-FFF2-40B4-BE49-F238E27FC236}">
                <a16:creationId xmlns:a16="http://schemas.microsoft.com/office/drawing/2014/main" id="{FBD9FBE5-3735-AA02-B9A5-5D932C6CB82E}"/>
              </a:ext>
            </a:extLst>
          </p:cNvPr>
          <p:cNvPicPr>
            <a:picLocks noChangeAspect="1"/>
          </p:cNvPicPr>
          <p:nvPr/>
        </p:nvPicPr>
        <p:blipFill>
          <a:blip r:embed="rId2"/>
          <a:stretch>
            <a:fillRect/>
          </a:stretch>
        </p:blipFill>
        <p:spPr>
          <a:xfrm>
            <a:off x="5104993" y="373488"/>
            <a:ext cx="4110128" cy="6311792"/>
          </a:xfrm>
          <a:prstGeom prst="rect">
            <a:avLst/>
          </a:prstGeom>
          <a:noFill/>
          <a:ln w="9525">
            <a:noFill/>
          </a:ln>
        </p:spPr>
      </p:pic>
    </p:spTree>
    <p:extLst>
      <p:ext uri="{BB962C8B-B14F-4D97-AF65-F5344CB8AC3E}">
        <p14:creationId xmlns:p14="http://schemas.microsoft.com/office/powerpoint/2010/main" val="1953407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4FB91A-47B8-A202-EB4F-39F8F1439B66}"/>
              </a:ext>
            </a:extLst>
          </p:cNvPr>
          <p:cNvSpPr>
            <a:spLocks noGrp="1"/>
          </p:cNvSpPr>
          <p:nvPr>
            <p:ph idx="1"/>
          </p:nvPr>
        </p:nvSpPr>
        <p:spPr/>
        <p:txBody>
          <a:bodyPr/>
          <a:lstStyle/>
          <a:p>
            <a:r>
              <a:rPr lang="en-US" dirty="0"/>
              <a:t>Sequence Diagram</a:t>
            </a:r>
            <a:endParaRPr lang="en-IN" dirty="0"/>
          </a:p>
          <a:p>
            <a:endParaRPr lang="en-IN" dirty="0"/>
          </a:p>
        </p:txBody>
      </p:sp>
      <p:pic>
        <p:nvPicPr>
          <p:cNvPr id="4" name="Picture 3" descr="IMG_256">
            <a:extLst>
              <a:ext uri="{FF2B5EF4-FFF2-40B4-BE49-F238E27FC236}">
                <a16:creationId xmlns:a16="http://schemas.microsoft.com/office/drawing/2014/main" id="{706ACF1A-D5D4-4D01-0BFD-B4DE7E18A3C5}"/>
              </a:ext>
            </a:extLst>
          </p:cNvPr>
          <p:cNvPicPr>
            <a:picLocks noChangeAspect="1"/>
          </p:cNvPicPr>
          <p:nvPr/>
        </p:nvPicPr>
        <p:blipFill>
          <a:blip r:embed="rId2"/>
          <a:stretch>
            <a:fillRect/>
          </a:stretch>
        </p:blipFill>
        <p:spPr>
          <a:xfrm>
            <a:off x="4900035" y="2274050"/>
            <a:ext cx="5273675" cy="2586990"/>
          </a:xfrm>
          <a:prstGeom prst="rect">
            <a:avLst/>
          </a:prstGeom>
          <a:noFill/>
          <a:ln w="9525">
            <a:noFill/>
          </a:ln>
        </p:spPr>
      </p:pic>
    </p:spTree>
    <p:extLst>
      <p:ext uri="{BB962C8B-B14F-4D97-AF65-F5344CB8AC3E}">
        <p14:creationId xmlns:p14="http://schemas.microsoft.com/office/powerpoint/2010/main" val="2250624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16D89B-E4F3-EE83-7695-5E22ABBA650E}"/>
              </a:ext>
            </a:extLst>
          </p:cNvPr>
          <p:cNvSpPr>
            <a:spLocks noGrp="1"/>
          </p:cNvSpPr>
          <p:nvPr>
            <p:ph idx="1"/>
          </p:nvPr>
        </p:nvSpPr>
        <p:spPr/>
        <p:txBody>
          <a:bodyPr/>
          <a:lstStyle/>
          <a:p>
            <a:r>
              <a:rPr lang="en-US" dirty="0"/>
              <a:t>Component Diagram</a:t>
            </a:r>
            <a:r>
              <a:rPr lang="en-IN" dirty="0"/>
              <a:t> </a:t>
            </a:r>
          </a:p>
        </p:txBody>
      </p:sp>
      <p:pic>
        <p:nvPicPr>
          <p:cNvPr id="4" name="Picture 3" descr="IMG_256">
            <a:extLst>
              <a:ext uri="{FF2B5EF4-FFF2-40B4-BE49-F238E27FC236}">
                <a16:creationId xmlns:a16="http://schemas.microsoft.com/office/drawing/2014/main" id="{BB44657B-359D-9470-83F1-72113D82E2E3}"/>
              </a:ext>
            </a:extLst>
          </p:cNvPr>
          <p:cNvPicPr>
            <a:picLocks noChangeAspect="1"/>
          </p:cNvPicPr>
          <p:nvPr/>
        </p:nvPicPr>
        <p:blipFill>
          <a:blip r:embed="rId2"/>
          <a:stretch>
            <a:fillRect/>
          </a:stretch>
        </p:blipFill>
        <p:spPr>
          <a:xfrm>
            <a:off x="5495491" y="307832"/>
            <a:ext cx="4733925" cy="6009842"/>
          </a:xfrm>
          <a:prstGeom prst="rect">
            <a:avLst/>
          </a:prstGeom>
          <a:noFill/>
          <a:ln w="9525">
            <a:noFill/>
          </a:ln>
        </p:spPr>
      </p:pic>
    </p:spTree>
    <p:extLst>
      <p:ext uri="{BB962C8B-B14F-4D97-AF65-F5344CB8AC3E}">
        <p14:creationId xmlns:p14="http://schemas.microsoft.com/office/powerpoint/2010/main" val="1827493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A634E-F31B-57D0-E663-6F4F38AB3353}"/>
              </a:ext>
            </a:extLst>
          </p:cNvPr>
          <p:cNvSpPr>
            <a:spLocks noGrp="1"/>
          </p:cNvSpPr>
          <p:nvPr>
            <p:ph type="title"/>
          </p:nvPr>
        </p:nvSpPr>
        <p:spPr>
          <a:xfrm>
            <a:off x="838200" y="365126"/>
            <a:ext cx="10515600" cy="680892"/>
          </a:xfrm>
        </p:spPr>
        <p:txBody>
          <a:bodyPr>
            <a:normAutofit fontScale="90000"/>
          </a:bodyPr>
          <a:lstStyle/>
          <a:p>
            <a:pPr algn="ctr"/>
            <a:r>
              <a:rPr lang="en-IN" b="1" u="sng" dirty="0"/>
              <a:t>Source Code:</a:t>
            </a:r>
          </a:p>
        </p:txBody>
      </p:sp>
      <p:sp>
        <p:nvSpPr>
          <p:cNvPr id="3" name="Content Placeholder 2">
            <a:extLst>
              <a:ext uri="{FF2B5EF4-FFF2-40B4-BE49-F238E27FC236}">
                <a16:creationId xmlns:a16="http://schemas.microsoft.com/office/drawing/2014/main" id="{4A32E7B7-4CCD-D095-1126-8A28B7199440}"/>
              </a:ext>
            </a:extLst>
          </p:cNvPr>
          <p:cNvSpPr>
            <a:spLocks noGrp="1"/>
          </p:cNvSpPr>
          <p:nvPr>
            <p:ph idx="1"/>
          </p:nvPr>
        </p:nvSpPr>
        <p:spPr>
          <a:xfrm>
            <a:off x="838200" y="1198418"/>
            <a:ext cx="10515600" cy="5130945"/>
          </a:xfrm>
        </p:spPr>
        <p:txBody>
          <a:bodyPr>
            <a:normAutofit/>
          </a:bodyPr>
          <a:lstStyle/>
          <a:p>
            <a:pPr marL="0" indent="0">
              <a:buNone/>
            </a:pPr>
            <a:r>
              <a:rPr lang="en-IN" sz="1200" b="1" u="sng" dirty="0"/>
              <a:t>manage.py</a:t>
            </a:r>
            <a:endParaRPr lang="en-US" sz="1200" b="1" u="sng" dirty="0"/>
          </a:p>
          <a:p>
            <a:pPr marL="0" indent="0">
              <a:buNone/>
            </a:pPr>
            <a:r>
              <a:rPr lang="en-US" sz="1200" dirty="0"/>
              <a:t>import </a:t>
            </a:r>
            <a:r>
              <a:rPr lang="en-US" sz="1200" dirty="0" err="1"/>
              <a:t>os</a:t>
            </a:r>
            <a:endParaRPr lang="en-US" sz="1200" dirty="0"/>
          </a:p>
          <a:p>
            <a:pPr marL="0" indent="0">
              <a:buNone/>
            </a:pPr>
            <a:r>
              <a:rPr lang="en-US" sz="1200" dirty="0"/>
              <a:t>import sys</a:t>
            </a:r>
          </a:p>
          <a:p>
            <a:pPr marL="0" indent="0">
              <a:buNone/>
            </a:pPr>
            <a:endParaRPr lang="en-US" sz="1200" dirty="0"/>
          </a:p>
          <a:p>
            <a:pPr marL="0" indent="0">
              <a:buNone/>
            </a:pPr>
            <a:r>
              <a:rPr lang="en-US" sz="1200" dirty="0"/>
              <a:t>def main():</a:t>
            </a:r>
          </a:p>
          <a:p>
            <a:pPr marL="0" indent="0">
              <a:buNone/>
            </a:pPr>
            <a:r>
              <a:rPr lang="en-US" sz="1200" dirty="0"/>
              <a:t>    </a:t>
            </a:r>
            <a:r>
              <a:rPr lang="en-US" sz="1200" dirty="0" err="1"/>
              <a:t>os.environ.setdefault</a:t>
            </a:r>
            <a:r>
              <a:rPr lang="en-US" sz="1200" dirty="0"/>
              <a:t>('DJANGO_SETTINGS_MODULE', '</a:t>
            </a:r>
            <a:r>
              <a:rPr lang="en-US" sz="1200" dirty="0" err="1"/>
              <a:t>clickfraud.settings</a:t>
            </a:r>
            <a:r>
              <a:rPr lang="en-US" sz="1200" dirty="0"/>
              <a:t>')</a:t>
            </a:r>
          </a:p>
          <a:p>
            <a:pPr marL="0" indent="0">
              <a:buNone/>
            </a:pPr>
            <a:r>
              <a:rPr lang="en-US" sz="1200" dirty="0"/>
              <a:t>    try:</a:t>
            </a:r>
          </a:p>
          <a:p>
            <a:pPr marL="0" indent="0">
              <a:buNone/>
            </a:pPr>
            <a:r>
              <a:rPr lang="en-US" sz="1200" dirty="0"/>
              <a:t>        from </a:t>
            </a:r>
            <a:r>
              <a:rPr lang="en-US" sz="1200" dirty="0" err="1"/>
              <a:t>django.core.management</a:t>
            </a:r>
            <a:r>
              <a:rPr lang="en-US" sz="1200" dirty="0"/>
              <a:t> import </a:t>
            </a:r>
            <a:r>
              <a:rPr lang="en-US" sz="1200" dirty="0" err="1"/>
              <a:t>execute_from_command_line</a:t>
            </a:r>
            <a:endParaRPr lang="en-US" sz="1200" dirty="0"/>
          </a:p>
          <a:p>
            <a:pPr marL="0" indent="0">
              <a:buNone/>
            </a:pPr>
            <a:r>
              <a:rPr lang="en-US" sz="1200" dirty="0"/>
              <a:t>    except </a:t>
            </a:r>
            <a:r>
              <a:rPr lang="en-US" sz="1200" dirty="0" err="1"/>
              <a:t>ImportError</a:t>
            </a:r>
            <a:r>
              <a:rPr lang="en-US" sz="1200" dirty="0"/>
              <a:t> as </a:t>
            </a:r>
            <a:r>
              <a:rPr lang="en-US" sz="1200" dirty="0" err="1"/>
              <a:t>exc</a:t>
            </a:r>
            <a:r>
              <a:rPr lang="en-US" sz="1200" dirty="0"/>
              <a:t>:</a:t>
            </a:r>
          </a:p>
          <a:p>
            <a:pPr marL="0" indent="0">
              <a:buNone/>
            </a:pPr>
            <a:r>
              <a:rPr lang="en-US" sz="1200" dirty="0"/>
              <a:t>        raise </a:t>
            </a:r>
            <a:r>
              <a:rPr lang="en-US" sz="1200" dirty="0" err="1"/>
              <a:t>ImportError</a:t>
            </a:r>
            <a:r>
              <a:rPr lang="en-US" sz="1200" dirty="0"/>
              <a:t>("Couldn't import Django") from </a:t>
            </a:r>
            <a:r>
              <a:rPr lang="en-US" sz="1200" dirty="0" err="1"/>
              <a:t>exc</a:t>
            </a:r>
            <a:endParaRPr lang="en-US" sz="1200" dirty="0"/>
          </a:p>
          <a:p>
            <a:pPr marL="0" indent="0">
              <a:buNone/>
            </a:pPr>
            <a:r>
              <a:rPr lang="en-US" sz="1200" dirty="0"/>
              <a:t>    </a:t>
            </a:r>
            <a:r>
              <a:rPr lang="en-US" sz="1200" dirty="0" err="1"/>
              <a:t>execute_from_command_line</a:t>
            </a:r>
            <a:r>
              <a:rPr lang="en-US" sz="1200" dirty="0"/>
              <a:t>(</a:t>
            </a:r>
            <a:r>
              <a:rPr lang="en-US" sz="1200" dirty="0" err="1"/>
              <a:t>sys.argv</a:t>
            </a:r>
            <a:r>
              <a:rPr lang="en-US" sz="1200" dirty="0"/>
              <a:t>)</a:t>
            </a:r>
          </a:p>
          <a:p>
            <a:pPr marL="0" indent="0">
              <a:buNone/>
            </a:pPr>
            <a:endParaRPr lang="en-US" sz="1200" dirty="0"/>
          </a:p>
          <a:p>
            <a:pPr marL="0" indent="0">
              <a:buNone/>
            </a:pPr>
            <a:r>
              <a:rPr lang="en-US" sz="1200" dirty="0"/>
              <a:t>if __name__ == '__main__':</a:t>
            </a:r>
          </a:p>
          <a:p>
            <a:pPr marL="0" indent="0">
              <a:buNone/>
            </a:pPr>
            <a:r>
              <a:rPr lang="en-US" sz="1200" dirty="0"/>
              <a:t>    main()</a:t>
            </a:r>
            <a:endParaRPr lang="en-IN" sz="1200" dirty="0"/>
          </a:p>
        </p:txBody>
      </p:sp>
    </p:spTree>
    <p:extLst>
      <p:ext uri="{BB962C8B-B14F-4D97-AF65-F5344CB8AC3E}">
        <p14:creationId xmlns:p14="http://schemas.microsoft.com/office/powerpoint/2010/main" val="36157823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128A62-803A-1166-9EED-B7FA008C34FA}"/>
              </a:ext>
            </a:extLst>
          </p:cNvPr>
          <p:cNvSpPr>
            <a:spLocks noGrp="1"/>
          </p:cNvSpPr>
          <p:nvPr>
            <p:ph idx="1"/>
          </p:nvPr>
        </p:nvSpPr>
        <p:spPr>
          <a:xfrm>
            <a:off x="727364" y="152400"/>
            <a:ext cx="10515600" cy="5084618"/>
          </a:xfrm>
        </p:spPr>
        <p:txBody>
          <a:bodyPr>
            <a:noAutofit/>
          </a:bodyPr>
          <a:lstStyle/>
          <a:p>
            <a:pPr marL="0" indent="0">
              <a:lnSpc>
                <a:spcPct val="100000"/>
              </a:lnSpc>
              <a:buNone/>
            </a:pPr>
            <a:r>
              <a:rPr lang="en-IN" sz="1000" b="1" u="sng" dirty="0"/>
              <a:t>settings.py</a:t>
            </a:r>
            <a:endParaRPr lang="en-US" sz="1000" b="1" u="sng" dirty="0"/>
          </a:p>
          <a:p>
            <a:pPr marL="0" indent="0">
              <a:lnSpc>
                <a:spcPct val="100000"/>
              </a:lnSpc>
              <a:buNone/>
            </a:pPr>
            <a:r>
              <a:rPr lang="en-US" sz="800" dirty="0"/>
              <a:t>from </a:t>
            </a:r>
            <a:r>
              <a:rPr lang="en-US" sz="800" dirty="0" err="1"/>
              <a:t>pathlib</a:t>
            </a:r>
            <a:r>
              <a:rPr lang="en-US" sz="800" dirty="0"/>
              <a:t> import Path</a:t>
            </a:r>
          </a:p>
          <a:p>
            <a:pPr marL="0" indent="0">
              <a:lnSpc>
                <a:spcPct val="100000"/>
              </a:lnSpc>
              <a:buNone/>
            </a:pPr>
            <a:r>
              <a:rPr lang="en-US" sz="800" dirty="0"/>
              <a:t>BASE_DIR = Path(__file__).resolve().</a:t>
            </a:r>
            <a:r>
              <a:rPr lang="en-US" sz="800" dirty="0" err="1"/>
              <a:t>parent.parent</a:t>
            </a:r>
            <a:endParaRPr lang="en-US" sz="800" dirty="0"/>
          </a:p>
          <a:p>
            <a:pPr marL="0" indent="0">
              <a:lnSpc>
                <a:spcPct val="100000"/>
              </a:lnSpc>
              <a:buNone/>
            </a:pPr>
            <a:r>
              <a:rPr lang="en-US" sz="800" dirty="0"/>
              <a:t>SECRET_KEY = '</a:t>
            </a:r>
            <a:r>
              <a:rPr lang="en-US" sz="800" dirty="0" err="1"/>
              <a:t>django</a:t>
            </a:r>
            <a:r>
              <a:rPr lang="en-US" sz="800" dirty="0"/>
              <a:t>-secret-key'</a:t>
            </a:r>
          </a:p>
          <a:p>
            <a:pPr marL="0" indent="0">
              <a:lnSpc>
                <a:spcPct val="100000"/>
              </a:lnSpc>
              <a:buNone/>
            </a:pPr>
            <a:r>
              <a:rPr lang="en-US" sz="800" dirty="0"/>
              <a:t>DEBUG = True</a:t>
            </a:r>
          </a:p>
          <a:p>
            <a:pPr marL="0" indent="0">
              <a:lnSpc>
                <a:spcPct val="100000"/>
              </a:lnSpc>
              <a:buNone/>
            </a:pPr>
            <a:r>
              <a:rPr lang="en-US" sz="800" dirty="0"/>
              <a:t>ALLOWED_HOSTS = []</a:t>
            </a:r>
          </a:p>
          <a:p>
            <a:pPr marL="0" indent="0">
              <a:lnSpc>
                <a:spcPct val="100000"/>
              </a:lnSpc>
              <a:buNone/>
            </a:pPr>
            <a:r>
              <a:rPr lang="en-US" sz="800" dirty="0"/>
              <a:t>INSTALLED_APPS = [</a:t>
            </a:r>
          </a:p>
          <a:p>
            <a:pPr marL="0" indent="0">
              <a:lnSpc>
                <a:spcPct val="100000"/>
              </a:lnSpc>
              <a:buNone/>
            </a:pPr>
            <a:r>
              <a:rPr lang="en-US" sz="800" dirty="0"/>
              <a:t>    '</a:t>
            </a:r>
            <a:r>
              <a:rPr lang="en-US" sz="800" dirty="0" err="1"/>
              <a:t>django.contrib.admin</a:t>
            </a:r>
            <a:r>
              <a:rPr lang="en-US" sz="800" dirty="0"/>
              <a:t>',</a:t>
            </a:r>
          </a:p>
          <a:p>
            <a:pPr marL="0" indent="0">
              <a:lnSpc>
                <a:spcPct val="100000"/>
              </a:lnSpc>
              <a:buNone/>
            </a:pPr>
            <a:r>
              <a:rPr lang="en-US" sz="800" dirty="0"/>
              <a:t>    '</a:t>
            </a:r>
            <a:r>
              <a:rPr lang="en-US" sz="800" dirty="0" err="1"/>
              <a:t>django.contrib.auth</a:t>
            </a:r>
            <a:r>
              <a:rPr lang="en-US" sz="800" dirty="0"/>
              <a:t>',</a:t>
            </a:r>
          </a:p>
          <a:p>
            <a:pPr marL="0" indent="0">
              <a:lnSpc>
                <a:spcPct val="100000"/>
              </a:lnSpc>
              <a:buNone/>
            </a:pPr>
            <a:r>
              <a:rPr lang="en-US" sz="800" dirty="0"/>
              <a:t>    '</a:t>
            </a:r>
            <a:r>
              <a:rPr lang="en-US" sz="800" dirty="0" err="1"/>
              <a:t>django.contrib.contenttypes</a:t>
            </a:r>
            <a:r>
              <a:rPr lang="en-US" sz="800" dirty="0"/>
              <a:t>',</a:t>
            </a:r>
          </a:p>
          <a:p>
            <a:pPr marL="0" indent="0">
              <a:lnSpc>
                <a:spcPct val="100000"/>
              </a:lnSpc>
              <a:buNone/>
            </a:pPr>
            <a:r>
              <a:rPr lang="en-US" sz="800" dirty="0"/>
              <a:t>    '</a:t>
            </a:r>
            <a:r>
              <a:rPr lang="en-US" sz="800" dirty="0" err="1"/>
              <a:t>django.contrib.sessions</a:t>
            </a:r>
            <a:r>
              <a:rPr lang="en-US" sz="800" dirty="0"/>
              <a:t>',</a:t>
            </a:r>
          </a:p>
          <a:p>
            <a:pPr marL="0" indent="0">
              <a:lnSpc>
                <a:spcPct val="100000"/>
              </a:lnSpc>
              <a:buNone/>
            </a:pPr>
            <a:r>
              <a:rPr lang="en-US" sz="800" dirty="0"/>
              <a:t>    '</a:t>
            </a:r>
            <a:r>
              <a:rPr lang="en-US" sz="800" dirty="0" err="1"/>
              <a:t>django.contrib.messages</a:t>
            </a:r>
            <a:r>
              <a:rPr lang="en-US" sz="800" dirty="0"/>
              <a:t>',</a:t>
            </a:r>
          </a:p>
          <a:p>
            <a:pPr marL="0" indent="0">
              <a:lnSpc>
                <a:spcPct val="100000"/>
              </a:lnSpc>
              <a:buNone/>
            </a:pPr>
            <a:r>
              <a:rPr lang="en-US" sz="800" dirty="0"/>
              <a:t>    '</a:t>
            </a:r>
            <a:r>
              <a:rPr lang="en-US" sz="800" dirty="0" err="1"/>
              <a:t>django.contrib.staticfiles</a:t>
            </a:r>
            <a:r>
              <a:rPr lang="en-US" sz="800" dirty="0"/>
              <a:t>',</a:t>
            </a:r>
          </a:p>
          <a:p>
            <a:pPr marL="0" indent="0">
              <a:lnSpc>
                <a:spcPct val="100000"/>
              </a:lnSpc>
              <a:buNone/>
            </a:pPr>
            <a:r>
              <a:rPr lang="en-US" sz="800" dirty="0"/>
              <a:t>    'detection',</a:t>
            </a:r>
          </a:p>
          <a:p>
            <a:pPr marL="0" indent="0">
              <a:lnSpc>
                <a:spcPct val="100000"/>
              </a:lnSpc>
              <a:buNone/>
            </a:pPr>
            <a:r>
              <a:rPr lang="en-US" sz="800" dirty="0"/>
              <a:t>]</a:t>
            </a:r>
          </a:p>
          <a:p>
            <a:pPr marL="0" indent="0">
              <a:lnSpc>
                <a:spcPct val="100000"/>
              </a:lnSpc>
              <a:buNone/>
            </a:pPr>
            <a:r>
              <a:rPr lang="en-US" sz="800" dirty="0"/>
              <a:t>MIDDLEWARE = [</a:t>
            </a:r>
          </a:p>
          <a:p>
            <a:pPr marL="0" indent="0">
              <a:lnSpc>
                <a:spcPct val="100000"/>
              </a:lnSpc>
              <a:buNone/>
            </a:pPr>
            <a:r>
              <a:rPr lang="en-US" sz="800" dirty="0"/>
              <a:t>    '</a:t>
            </a:r>
            <a:r>
              <a:rPr lang="en-US" sz="800" dirty="0" err="1"/>
              <a:t>django.middleware.security.SecurityMiddleware</a:t>
            </a:r>
            <a:r>
              <a:rPr lang="en-US" sz="800" dirty="0"/>
              <a:t>',</a:t>
            </a:r>
          </a:p>
          <a:p>
            <a:pPr marL="0" indent="0">
              <a:lnSpc>
                <a:spcPct val="100000"/>
              </a:lnSpc>
              <a:buNone/>
            </a:pPr>
            <a:r>
              <a:rPr lang="en-US" sz="800" dirty="0"/>
              <a:t>    '</a:t>
            </a:r>
            <a:r>
              <a:rPr lang="en-US" sz="800" dirty="0" err="1"/>
              <a:t>django.contrib.sessions.middleware.SessionMiddleware</a:t>
            </a:r>
            <a:r>
              <a:rPr lang="en-US" sz="800" dirty="0"/>
              <a:t>',</a:t>
            </a:r>
          </a:p>
          <a:p>
            <a:pPr marL="0" indent="0">
              <a:lnSpc>
                <a:spcPct val="100000"/>
              </a:lnSpc>
              <a:buNone/>
            </a:pPr>
            <a:r>
              <a:rPr lang="en-US" sz="800" dirty="0"/>
              <a:t>    '</a:t>
            </a:r>
            <a:r>
              <a:rPr lang="en-US" sz="800" dirty="0" err="1"/>
              <a:t>django.middleware.common.CommonMiddleware</a:t>
            </a:r>
            <a:r>
              <a:rPr lang="en-US" sz="800" dirty="0"/>
              <a:t>',</a:t>
            </a:r>
          </a:p>
          <a:p>
            <a:pPr marL="0" indent="0">
              <a:lnSpc>
                <a:spcPct val="100000"/>
              </a:lnSpc>
              <a:buNone/>
            </a:pPr>
            <a:r>
              <a:rPr lang="en-US" sz="800" dirty="0"/>
              <a:t>]</a:t>
            </a:r>
          </a:p>
          <a:p>
            <a:pPr marL="0" indent="0">
              <a:lnSpc>
                <a:spcPct val="100000"/>
              </a:lnSpc>
              <a:buNone/>
            </a:pPr>
            <a:r>
              <a:rPr lang="en-US" sz="800" dirty="0"/>
              <a:t>ROOT_URLCONF = '</a:t>
            </a:r>
            <a:r>
              <a:rPr lang="en-US" sz="800" dirty="0" err="1"/>
              <a:t>clickfraud.urls</a:t>
            </a:r>
            <a:r>
              <a:rPr lang="en-US" sz="800" dirty="0"/>
              <a:t>'</a:t>
            </a:r>
          </a:p>
          <a:p>
            <a:pPr marL="0" indent="0">
              <a:lnSpc>
                <a:spcPct val="100000"/>
              </a:lnSpc>
              <a:buNone/>
            </a:pPr>
            <a:r>
              <a:rPr lang="en-US" sz="800" dirty="0"/>
              <a:t>DATABASES = {</a:t>
            </a:r>
          </a:p>
          <a:p>
            <a:pPr marL="0" indent="0">
              <a:lnSpc>
                <a:spcPct val="100000"/>
              </a:lnSpc>
              <a:buNone/>
            </a:pPr>
            <a:r>
              <a:rPr lang="en-US" sz="800" dirty="0"/>
              <a:t>    'default': {</a:t>
            </a:r>
          </a:p>
          <a:p>
            <a:pPr marL="0" indent="0">
              <a:lnSpc>
                <a:spcPct val="100000"/>
              </a:lnSpc>
              <a:buNone/>
            </a:pPr>
            <a:r>
              <a:rPr lang="en-US" sz="800" dirty="0"/>
              <a:t>        'ENGINE': 'django.db.backends.sqlite3',</a:t>
            </a:r>
          </a:p>
          <a:p>
            <a:pPr marL="0" indent="0">
              <a:lnSpc>
                <a:spcPct val="100000"/>
              </a:lnSpc>
              <a:buNone/>
            </a:pPr>
            <a:r>
              <a:rPr lang="en-US" sz="800" dirty="0"/>
              <a:t>        'NAME': BASE_DIR / 'db.sqlite3',</a:t>
            </a:r>
          </a:p>
          <a:p>
            <a:pPr marL="0" indent="0">
              <a:lnSpc>
                <a:spcPct val="100000"/>
              </a:lnSpc>
              <a:buNone/>
            </a:pPr>
            <a:r>
              <a:rPr lang="en-US" sz="800" dirty="0"/>
              <a:t>    }</a:t>
            </a:r>
          </a:p>
          <a:p>
            <a:pPr marL="0" indent="0">
              <a:lnSpc>
                <a:spcPct val="100000"/>
              </a:lnSpc>
              <a:buNone/>
            </a:pPr>
            <a:r>
              <a:rPr lang="en-US" sz="800" dirty="0"/>
              <a:t>}</a:t>
            </a:r>
            <a:endParaRPr lang="en-IN" sz="800" dirty="0"/>
          </a:p>
        </p:txBody>
      </p:sp>
    </p:spTree>
    <p:extLst>
      <p:ext uri="{BB962C8B-B14F-4D97-AF65-F5344CB8AC3E}">
        <p14:creationId xmlns:p14="http://schemas.microsoft.com/office/powerpoint/2010/main" val="3930240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6ECBEA-7F46-DCE6-B94F-C9363F098950}"/>
              </a:ext>
            </a:extLst>
          </p:cNvPr>
          <p:cNvSpPr>
            <a:spLocks noGrp="1"/>
          </p:cNvSpPr>
          <p:nvPr>
            <p:ph idx="1"/>
          </p:nvPr>
        </p:nvSpPr>
        <p:spPr>
          <a:xfrm>
            <a:off x="838200" y="159327"/>
            <a:ext cx="10515600" cy="6017636"/>
          </a:xfrm>
        </p:spPr>
        <p:txBody>
          <a:bodyPr>
            <a:noAutofit/>
          </a:bodyPr>
          <a:lstStyle/>
          <a:p>
            <a:pPr marL="0" indent="0">
              <a:lnSpc>
                <a:spcPct val="100000"/>
              </a:lnSpc>
              <a:buNone/>
            </a:pPr>
            <a:r>
              <a:rPr lang="en-IN" sz="1200" b="1" u="sng" dirty="0"/>
              <a:t>Project urls.py</a:t>
            </a:r>
            <a:endParaRPr lang="en-US" sz="1200" b="1" u="sng" dirty="0"/>
          </a:p>
          <a:p>
            <a:pPr marL="0" indent="0">
              <a:lnSpc>
                <a:spcPct val="100000"/>
              </a:lnSpc>
              <a:buNone/>
            </a:pPr>
            <a:r>
              <a:rPr lang="en-US" sz="1200" dirty="0"/>
              <a:t>from </a:t>
            </a:r>
            <a:r>
              <a:rPr lang="en-US" sz="1200" dirty="0" err="1"/>
              <a:t>django.contrib</a:t>
            </a:r>
            <a:r>
              <a:rPr lang="en-US" sz="1200" dirty="0"/>
              <a:t> import admin</a:t>
            </a:r>
          </a:p>
          <a:p>
            <a:pPr marL="0" indent="0">
              <a:lnSpc>
                <a:spcPct val="100000"/>
              </a:lnSpc>
              <a:buNone/>
            </a:pPr>
            <a:r>
              <a:rPr lang="en-US" sz="1200" dirty="0"/>
              <a:t>from </a:t>
            </a:r>
            <a:r>
              <a:rPr lang="en-US" sz="1200" dirty="0" err="1"/>
              <a:t>django.urls</a:t>
            </a:r>
            <a:r>
              <a:rPr lang="en-US" sz="1200" dirty="0"/>
              <a:t> import path, include</a:t>
            </a:r>
          </a:p>
          <a:p>
            <a:pPr marL="0" indent="0">
              <a:lnSpc>
                <a:spcPct val="100000"/>
              </a:lnSpc>
              <a:buNone/>
            </a:pPr>
            <a:endParaRPr lang="en-US" sz="1200" dirty="0"/>
          </a:p>
          <a:p>
            <a:pPr marL="0" indent="0">
              <a:lnSpc>
                <a:spcPct val="100000"/>
              </a:lnSpc>
              <a:buNone/>
            </a:pPr>
            <a:r>
              <a:rPr lang="en-US" sz="1200" dirty="0" err="1"/>
              <a:t>urlpatterns</a:t>
            </a:r>
            <a:r>
              <a:rPr lang="en-US" sz="1200" dirty="0"/>
              <a:t> = [</a:t>
            </a:r>
          </a:p>
          <a:p>
            <a:pPr marL="0" indent="0">
              <a:lnSpc>
                <a:spcPct val="100000"/>
              </a:lnSpc>
              <a:buNone/>
            </a:pPr>
            <a:r>
              <a:rPr lang="en-US" sz="1200" dirty="0"/>
              <a:t>    path('admin/', </a:t>
            </a:r>
            <a:r>
              <a:rPr lang="en-US" sz="1200" dirty="0" err="1"/>
              <a:t>admin.site.urls</a:t>
            </a:r>
            <a:r>
              <a:rPr lang="en-US" sz="1200" dirty="0"/>
              <a:t>),</a:t>
            </a:r>
          </a:p>
          <a:p>
            <a:pPr marL="0" indent="0">
              <a:lnSpc>
                <a:spcPct val="100000"/>
              </a:lnSpc>
              <a:buNone/>
            </a:pPr>
            <a:r>
              <a:rPr lang="en-US" sz="1200" dirty="0"/>
              <a:t>    path('', include('</a:t>
            </a:r>
            <a:r>
              <a:rPr lang="en-US" sz="1200" dirty="0" err="1"/>
              <a:t>detection.urls</a:t>
            </a:r>
            <a:r>
              <a:rPr lang="en-US" sz="1200" dirty="0"/>
              <a:t>')),</a:t>
            </a:r>
          </a:p>
          <a:p>
            <a:pPr marL="0" indent="0">
              <a:lnSpc>
                <a:spcPct val="100000"/>
              </a:lnSpc>
              <a:buNone/>
            </a:pPr>
            <a:r>
              <a:rPr lang="en-US" sz="1200" dirty="0"/>
              <a:t>]</a:t>
            </a:r>
          </a:p>
          <a:p>
            <a:pPr marL="0" indent="0">
              <a:lnSpc>
                <a:spcPct val="100000"/>
              </a:lnSpc>
              <a:buNone/>
            </a:pPr>
            <a:r>
              <a:rPr lang="en-IN" sz="1200" b="1" u="sng" dirty="0"/>
              <a:t>asgi.py</a:t>
            </a:r>
          </a:p>
          <a:p>
            <a:pPr marL="0" indent="0">
              <a:lnSpc>
                <a:spcPct val="100000"/>
              </a:lnSpc>
              <a:buNone/>
            </a:pPr>
            <a:r>
              <a:rPr lang="en-IN" sz="1200" dirty="0"/>
              <a:t>import </a:t>
            </a:r>
            <a:r>
              <a:rPr lang="en-IN" sz="1200" dirty="0" err="1"/>
              <a:t>os</a:t>
            </a:r>
            <a:endParaRPr lang="en-IN" sz="1200" dirty="0"/>
          </a:p>
          <a:p>
            <a:pPr marL="0" indent="0">
              <a:lnSpc>
                <a:spcPct val="100000"/>
              </a:lnSpc>
              <a:buNone/>
            </a:pPr>
            <a:r>
              <a:rPr lang="en-IN" sz="1200" dirty="0"/>
              <a:t>from </a:t>
            </a:r>
            <a:r>
              <a:rPr lang="en-IN" sz="1200" dirty="0" err="1"/>
              <a:t>django.core.asgi</a:t>
            </a:r>
            <a:r>
              <a:rPr lang="en-IN" sz="1200" dirty="0"/>
              <a:t> import </a:t>
            </a:r>
            <a:r>
              <a:rPr lang="en-IN" sz="1200" dirty="0" err="1"/>
              <a:t>get_asgi_application</a:t>
            </a:r>
            <a:endParaRPr lang="en-IN" sz="1200" dirty="0"/>
          </a:p>
          <a:p>
            <a:pPr marL="0" indent="0">
              <a:lnSpc>
                <a:spcPct val="100000"/>
              </a:lnSpc>
              <a:buNone/>
            </a:pPr>
            <a:endParaRPr lang="en-IN" sz="1200" dirty="0"/>
          </a:p>
          <a:p>
            <a:pPr marL="0" indent="0">
              <a:lnSpc>
                <a:spcPct val="100000"/>
              </a:lnSpc>
              <a:buNone/>
            </a:pPr>
            <a:r>
              <a:rPr lang="en-IN" sz="1200" dirty="0" err="1"/>
              <a:t>os.environ.setdefault</a:t>
            </a:r>
            <a:r>
              <a:rPr lang="en-IN" sz="1200" dirty="0"/>
              <a:t>('DJANGO_SETTINGS_MODULE', '</a:t>
            </a:r>
            <a:r>
              <a:rPr lang="en-IN" sz="1200" dirty="0" err="1"/>
              <a:t>clickfraud.settings</a:t>
            </a:r>
            <a:r>
              <a:rPr lang="en-IN" sz="1200" dirty="0"/>
              <a:t>')</a:t>
            </a:r>
          </a:p>
          <a:p>
            <a:pPr marL="0" indent="0">
              <a:lnSpc>
                <a:spcPct val="100000"/>
              </a:lnSpc>
              <a:buNone/>
            </a:pPr>
            <a:r>
              <a:rPr lang="en-IN" sz="1200" dirty="0"/>
              <a:t>application = </a:t>
            </a:r>
            <a:r>
              <a:rPr lang="en-IN" sz="1200" dirty="0" err="1"/>
              <a:t>get_asgi_application</a:t>
            </a:r>
            <a:r>
              <a:rPr lang="en-IN" sz="1200" dirty="0"/>
              <a:t>()</a:t>
            </a:r>
          </a:p>
          <a:p>
            <a:pPr marL="0" indent="0">
              <a:lnSpc>
                <a:spcPct val="100000"/>
              </a:lnSpc>
              <a:buNone/>
            </a:pPr>
            <a:endParaRPr lang="en-IN" sz="1200" dirty="0"/>
          </a:p>
          <a:p>
            <a:pPr marL="0" indent="0">
              <a:lnSpc>
                <a:spcPct val="100000"/>
              </a:lnSpc>
              <a:buNone/>
            </a:pPr>
            <a:r>
              <a:rPr lang="en-IN" sz="1200" b="1" u="sng" dirty="0"/>
              <a:t>wsgi.py</a:t>
            </a:r>
            <a:br>
              <a:rPr lang="en-IN" sz="1200" dirty="0"/>
            </a:br>
            <a:r>
              <a:rPr lang="en-IN" sz="1200" dirty="0"/>
              <a:t>import </a:t>
            </a:r>
            <a:r>
              <a:rPr lang="en-IN" sz="1200" dirty="0" err="1"/>
              <a:t>os</a:t>
            </a:r>
            <a:br>
              <a:rPr lang="en-IN" sz="1200" dirty="0"/>
            </a:br>
            <a:r>
              <a:rPr lang="en-IN" sz="1200" dirty="0"/>
              <a:t>from </a:t>
            </a:r>
            <a:r>
              <a:rPr lang="en-IN" sz="1200" dirty="0" err="1"/>
              <a:t>django.core.wsgi</a:t>
            </a:r>
            <a:r>
              <a:rPr lang="en-IN" sz="1200" dirty="0"/>
              <a:t> import </a:t>
            </a:r>
            <a:r>
              <a:rPr lang="en-IN" sz="1200" dirty="0" err="1"/>
              <a:t>get_wsgi_application</a:t>
            </a:r>
            <a:br>
              <a:rPr lang="en-IN" sz="1200" dirty="0"/>
            </a:br>
            <a:br>
              <a:rPr lang="en-IN" sz="1200" dirty="0"/>
            </a:br>
            <a:r>
              <a:rPr lang="en-IN" sz="1200" dirty="0" err="1"/>
              <a:t>os.environ.setdefault</a:t>
            </a:r>
            <a:r>
              <a:rPr lang="en-IN" sz="1200" dirty="0"/>
              <a:t>('DJANGO_SETTINGS_MODULE', '</a:t>
            </a:r>
            <a:r>
              <a:rPr lang="en-IN" sz="1200" dirty="0" err="1"/>
              <a:t>clickfraud.settings</a:t>
            </a:r>
            <a:r>
              <a:rPr lang="en-IN" sz="1200" dirty="0"/>
              <a:t>')</a:t>
            </a:r>
            <a:br>
              <a:rPr lang="en-IN" sz="1200" dirty="0"/>
            </a:br>
            <a:r>
              <a:rPr lang="en-IN" sz="1200" dirty="0"/>
              <a:t>application = </a:t>
            </a:r>
            <a:r>
              <a:rPr lang="en-IN" sz="1200" dirty="0" err="1"/>
              <a:t>get_wsgi_application</a:t>
            </a:r>
            <a:r>
              <a:rPr lang="en-IN" sz="1200" dirty="0"/>
              <a:t>()</a:t>
            </a:r>
          </a:p>
          <a:p>
            <a:pPr marL="0" indent="0">
              <a:lnSpc>
                <a:spcPct val="100000"/>
              </a:lnSpc>
              <a:buNone/>
            </a:pPr>
            <a:endParaRPr lang="en-IN" sz="1200" dirty="0"/>
          </a:p>
        </p:txBody>
      </p:sp>
    </p:spTree>
    <p:extLst>
      <p:ext uri="{BB962C8B-B14F-4D97-AF65-F5344CB8AC3E}">
        <p14:creationId xmlns:p14="http://schemas.microsoft.com/office/powerpoint/2010/main" val="1412309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14506B-562D-42BD-8456-BC62C21700D6}"/>
              </a:ext>
            </a:extLst>
          </p:cNvPr>
          <p:cNvSpPr>
            <a:spLocks noGrp="1"/>
          </p:cNvSpPr>
          <p:nvPr>
            <p:ph idx="1"/>
          </p:nvPr>
        </p:nvSpPr>
        <p:spPr>
          <a:xfrm>
            <a:off x="692727" y="398606"/>
            <a:ext cx="10515600" cy="4803775"/>
          </a:xfrm>
        </p:spPr>
        <p:txBody>
          <a:bodyPr>
            <a:noAutofit/>
          </a:bodyPr>
          <a:lstStyle/>
          <a:p>
            <a:pPr marL="0" indent="0">
              <a:buNone/>
            </a:pPr>
            <a:r>
              <a:rPr lang="en-IN" sz="900" b="1" u="sng" dirty="0"/>
              <a:t>models.py</a:t>
            </a:r>
            <a:endParaRPr lang="en-US" sz="900" b="1" u="sng" dirty="0"/>
          </a:p>
          <a:p>
            <a:pPr marL="0" indent="0">
              <a:buNone/>
            </a:pPr>
            <a:r>
              <a:rPr lang="en-US" sz="900" dirty="0"/>
              <a:t>from </a:t>
            </a:r>
            <a:r>
              <a:rPr lang="en-US" sz="900" dirty="0" err="1"/>
              <a:t>django.db</a:t>
            </a:r>
            <a:r>
              <a:rPr lang="en-US" sz="900" dirty="0"/>
              <a:t> import models</a:t>
            </a:r>
          </a:p>
          <a:p>
            <a:pPr marL="0" indent="0">
              <a:buNone/>
            </a:pPr>
            <a:r>
              <a:rPr lang="en-US" sz="900" dirty="0"/>
              <a:t>class </a:t>
            </a:r>
            <a:r>
              <a:rPr lang="en-US" sz="900" dirty="0" err="1"/>
              <a:t>ClickEvent</a:t>
            </a:r>
            <a:r>
              <a:rPr lang="en-US" sz="900" dirty="0"/>
              <a:t>(</a:t>
            </a:r>
            <a:r>
              <a:rPr lang="en-US" sz="900" dirty="0" err="1"/>
              <a:t>models.Model</a:t>
            </a:r>
            <a:r>
              <a:rPr lang="en-US" sz="900" dirty="0"/>
              <a:t>):</a:t>
            </a:r>
          </a:p>
          <a:p>
            <a:pPr marL="0" indent="0">
              <a:buNone/>
            </a:pPr>
            <a:r>
              <a:rPr lang="en-US" sz="900" dirty="0"/>
              <a:t>    </a:t>
            </a:r>
            <a:r>
              <a:rPr lang="en-US" sz="900" dirty="0" err="1"/>
              <a:t>device_type</a:t>
            </a:r>
            <a:r>
              <a:rPr lang="en-US" sz="900" dirty="0"/>
              <a:t> = </a:t>
            </a:r>
            <a:r>
              <a:rPr lang="en-US" sz="900" dirty="0" err="1"/>
              <a:t>models.CharField</a:t>
            </a:r>
            <a:r>
              <a:rPr lang="en-US" sz="900" dirty="0"/>
              <a:t>(</a:t>
            </a:r>
            <a:r>
              <a:rPr lang="en-US" sz="900" dirty="0" err="1"/>
              <a:t>max_length</a:t>
            </a:r>
            <a:r>
              <a:rPr lang="en-US" sz="900" dirty="0"/>
              <a:t>=50)</a:t>
            </a:r>
          </a:p>
          <a:p>
            <a:pPr marL="0" indent="0">
              <a:buNone/>
            </a:pPr>
            <a:r>
              <a:rPr lang="en-US" sz="900" dirty="0"/>
              <a:t>    browser = </a:t>
            </a:r>
            <a:r>
              <a:rPr lang="en-US" sz="900" dirty="0" err="1"/>
              <a:t>models.CharField</a:t>
            </a:r>
            <a:r>
              <a:rPr lang="en-US" sz="900" dirty="0"/>
              <a:t>(</a:t>
            </a:r>
            <a:r>
              <a:rPr lang="en-US" sz="900" dirty="0" err="1"/>
              <a:t>max_length</a:t>
            </a:r>
            <a:r>
              <a:rPr lang="en-US" sz="900" dirty="0"/>
              <a:t>=100)</a:t>
            </a:r>
          </a:p>
          <a:p>
            <a:pPr marL="0" indent="0">
              <a:buNone/>
            </a:pPr>
            <a:r>
              <a:rPr lang="en-US" sz="900" dirty="0"/>
              <a:t>    </a:t>
            </a:r>
            <a:r>
              <a:rPr lang="en-US" sz="900" dirty="0" err="1"/>
              <a:t>operating_system</a:t>
            </a:r>
            <a:r>
              <a:rPr lang="en-US" sz="900" dirty="0"/>
              <a:t> = </a:t>
            </a:r>
            <a:r>
              <a:rPr lang="en-US" sz="900" dirty="0" err="1"/>
              <a:t>models.CharField</a:t>
            </a:r>
            <a:r>
              <a:rPr lang="en-US" sz="900" dirty="0"/>
              <a:t>(</a:t>
            </a:r>
            <a:r>
              <a:rPr lang="en-US" sz="900" dirty="0" err="1"/>
              <a:t>max_length</a:t>
            </a:r>
            <a:r>
              <a:rPr lang="en-US" sz="900" dirty="0"/>
              <a:t>=100)</a:t>
            </a:r>
          </a:p>
          <a:p>
            <a:pPr marL="0" indent="0">
              <a:buNone/>
            </a:pPr>
            <a:endParaRPr lang="en-US" sz="900" dirty="0"/>
          </a:p>
          <a:p>
            <a:pPr marL="0" indent="0">
              <a:buNone/>
            </a:pPr>
            <a:r>
              <a:rPr lang="en-US" sz="900" dirty="0"/>
              <a:t>    </a:t>
            </a:r>
            <a:r>
              <a:rPr lang="en-US" sz="900" dirty="0" err="1"/>
              <a:t>click_duration</a:t>
            </a:r>
            <a:r>
              <a:rPr lang="en-US" sz="900" dirty="0"/>
              <a:t> = </a:t>
            </a:r>
            <a:r>
              <a:rPr lang="en-US" sz="900" dirty="0" err="1"/>
              <a:t>models.FloatField</a:t>
            </a:r>
            <a:r>
              <a:rPr lang="en-US" sz="900" dirty="0"/>
              <a:t>()</a:t>
            </a:r>
          </a:p>
          <a:p>
            <a:pPr marL="0" indent="0">
              <a:buNone/>
            </a:pPr>
            <a:r>
              <a:rPr lang="en-US" sz="900" dirty="0"/>
              <a:t>    </a:t>
            </a:r>
            <a:r>
              <a:rPr lang="en-US" sz="900" dirty="0" err="1"/>
              <a:t>mouse_movement</a:t>
            </a:r>
            <a:r>
              <a:rPr lang="en-US" sz="900" dirty="0"/>
              <a:t> = </a:t>
            </a:r>
            <a:r>
              <a:rPr lang="en-US" sz="900" dirty="0" err="1"/>
              <a:t>models.FloatField</a:t>
            </a:r>
            <a:r>
              <a:rPr lang="en-US" sz="900" dirty="0"/>
              <a:t>()</a:t>
            </a:r>
          </a:p>
          <a:p>
            <a:pPr marL="0" indent="0">
              <a:buNone/>
            </a:pPr>
            <a:r>
              <a:rPr lang="en-US" sz="900" dirty="0"/>
              <a:t>    </a:t>
            </a:r>
            <a:r>
              <a:rPr lang="en-US" sz="900" dirty="0" err="1"/>
              <a:t>scroll_depth</a:t>
            </a:r>
            <a:r>
              <a:rPr lang="en-US" sz="900" dirty="0"/>
              <a:t> = </a:t>
            </a:r>
            <a:r>
              <a:rPr lang="en-US" sz="900" dirty="0" err="1"/>
              <a:t>models.FloatField</a:t>
            </a:r>
            <a:r>
              <a:rPr lang="en-US" sz="900" dirty="0"/>
              <a:t>()</a:t>
            </a:r>
          </a:p>
          <a:p>
            <a:pPr marL="0" indent="0">
              <a:buNone/>
            </a:pPr>
            <a:r>
              <a:rPr lang="en-US" sz="900" dirty="0"/>
              <a:t>    </a:t>
            </a:r>
            <a:r>
              <a:rPr lang="en-US" sz="900" dirty="0" err="1"/>
              <a:t>keystrokes_detected</a:t>
            </a:r>
            <a:r>
              <a:rPr lang="en-US" sz="900" dirty="0"/>
              <a:t> = </a:t>
            </a:r>
            <a:r>
              <a:rPr lang="en-US" sz="900" dirty="0" err="1"/>
              <a:t>models.IntegerField</a:t>
            </a:r>
            <a:r>
              <a:rPr lang="en-US" sz="900" dirty="0"/>
              <a:t>()</a:t>
            </a:r>
          </a:p>
          <a:p>
            <a:pPr marL="0" indent="0">
              <a:buNone/>
            </a:pPr>
            <a:endParaRPr lang="en-US" sz="900" dirty="0"/>
          </a:p>
          <a:p>
            <a:pPr marL="0" indent="0">
              <a:buNone/>
            </a:pPr>
            <a:r>
              <a:rPr lang="en-US" sz="900" dirty="0"/>
              <a:t>    </a:t>
            </a:r>
            <a:r>
              <a:rPr lang="en-US" sz="900" dirty="0" err="1"/>
              <a:t>click_frequency</a:t>
            </a:r>
            <a:r>
              <a:rPr lang="en-US" sz="900" dirty="0"/>
              <a:t> = </a:t>
            </a:r>
            <a:r>
              <a:rPr lang="en-US" sz="900" dirty="0" err="1"/>
              <a:t>models.IntegerField</a:t>
            </a:r>
            <a:r>
              <a:rPr lang="en-US" sz="900" dirty="0"/>
              <a:t>()</a:t>
            </a:r>
          </a:p>
          <a:p>
            <a:pPr marL="0" indent="0">
              <a:buNone/>
            </a:pPr>
            <a:r>
              <a:rPr lang="en-US" sz="900" dirty="0"/>
              <a:t>    </a:t>
            </a:r>
            <a:r>
              <a:rPr lang="en-US" sz="900" dirty="0" err="1"/>
              <a:t>VPN_usage</a:t>
            </a:r>
            <a:r>
              <a:rPr lang="en-US" sz="900" dirty="0"/>
              <a:t> = </a:t>
            </a:r>
            <a:r>
              <a:rPr lang="en-US" sz="900" dirty="0" err="1"/>
              <a:t>models.BooleanField</a:t>
            </a:r>
            <a:r>
              <a:rPr lang="en-US" sz="900" dirty="0"/>
              <a:t>(default=False)</a:t>
            </a:r>
          </a:p>
          <a:p>
            <a:pPr marL="0" indent="0">
              <a:buNone/>
            </a:pPr>
            <a:endParaRPr lang="en-US" sz="900" dirty="0"/>
          </a:p>
          <a:p>
            <a:pPr marL="0" indent="0">
              <a:buNone/>
            </a:pPr>
            <a:r>
              <a:rPr lang="en-US" sz="900" dirty="0"/>
              <a:t>    </a:t>
            </a:r>
            <a:r>
              <a:rPr lang="en-US" sz="900" dirty="0" err="1"/>
              <a:t>fraud_probability</a:t>
            </a:r>
            <a:r>
              <a:rPr lang="en-US" sz="900" dirty="0"/>
              <a:t> = </a:t>
            </a:r>
            <a:r>
              <a:rPr lang="en-US" sz="900" dirty="0" err="1"/>
              <a:t>models.FloatField</a:t>
            </a:r>
            <a:r>
              <a:rPr lang="en-US" sz="900" dirty="0"/>
              <a:t>(null=True, blank=True)</a:t>
            </a:r>
          </a:p>
          <a:p>
            <a:pPr marL="0" indent="0">
              <a:buNone/>
            </a:pPr>
            <a:endParaRPr lang="en-US" sz="900" dirty="0"/>
          </a:p>
          <a:p>
            <a:pPr marL="0" indent="0">
              <a:buNone/>
            </a:pPr>
            <a:r>
              <a:rPr lang="en-US" sz="900" dirty="0"/>
              <a:t>    </a:t>
            </a:r>
            <a:r>
              <a:rPr lang="en-US" sz="900" dirty="0" err="1"/>
              <a:t>fraud_label</a:t>
            </a:r>
            <a:r>
              <a:rPr lang="en-US" sz="900" dirty="0"/>
              <a:t> = </a:t>
            </a:r>
            <a:r>
              <a:rPr lang="en-US" sz="900" dirty="0" err="1"/>
              <a:t>models.CharField</a:t>
            </a:r>
            <a:r>
              <a:rPr lang="en-US" sz="900" dirty="0"/>
              <a:t>(</a:t>
            </a:r>
          </a:p>
          <a:p>
            <a:pPr marL="0" indent="0">
              <a:buNone/>
            </a:pPr>
            <a:r>
              <a:rPr lang="en-US" sz="900" dirty="0"/>
              <a:t>        </a:t>
            </a:r>
            <a:r>
              <a:rPr lang="en-US" sz="900" dirty="0" err="1"/>
              <a:t>max_length</a:t>
            </a:r>
            <a:r>
              <a:rPr lang="en-US" sz="900" dirty="0"/>
              <a:t>=10,</a:t>
            </a:r>
          </a:p>
          <a:p>
            <a:pPr marL="0" indent="0">
              <a:buNone/>
            </a:pPr>
            <a:r>
              <a:rPr lang="en-US" sz="900" dirty="0"/>
              <a:t>        choices=[("</a:t>
            </a:r>
            <a:r>
              <a:rPr lang="en-US" sz="900" dirty="0" err="1"/>
              <a:t>fraud","Fraud</a:t>
            </a:r>
            <a:r>
              <a:rPr lang="en-US" sz="900" dirty="0"/>
              <a:t>"),("</a:t>
            </a:r>
            <a:r>
              <a:rPr lang="en-US" sz="900" dirty="0" err="1"/>
              <a:t>legit","Legit</a:t>
            </a:r>
            <a:r>
              <a:rPr lang="en-US" sz="900" dirty="0"/>
              <a:t>")],</a:t>
            </a:r>
          </a:p>
          <a:p>
            <a:pPr marL="0" indent="0">
              <a:buNone/>
            </a:pPr>
            <a:r>
              <a:rPr lang="en-US" sz="900" dirty="0"/>
              <a:t>        null=True,</a:t>
            </a:r>
          </a:p>
          <a:p>
            <a:pPr marL="0" indent="0">
              <a:buNone/>
            </a:pPr>
            <a:r>
              <a:rPr lang="en-US" sz="900" dirty="0"/>
              <a:t>        blank=True</a:t>
            </a:r>
          </a:p>
          <a:p>
            <a:pPr marL="0" indent="0">
              <a:buNone/>
            </a:pPr>
            <a:r>
              <a:rPr lang="en-US" sz="900" dirty="0"/>
              <a:t>    )</a:t>
            </a:r>
          </a:p>
          <a:p>
            <a:pPr marL="0" indent="0">
              <a:buNone/>
            </a:pPr>
            <a:endParaRPr lang="en-US" sz="900" dirty="0"/>
          </a:p>
          <a:p>
            <a:pPr marL="0" indent="0">
              <a:buNone/>
            </a:pPr>
            <a:r>
              <a:rPr lang="en-US" sz="900" dirty="0"/>
              <a:t>    timestamp = </a:t>
            </a:r>
            <a:r>
              <a:rPr lang="en-US" sz="900" dirty="0" err="1"/>
              <a:t>models.DateTimeField</a:t>
            </a:r>
            <a:r>
              <a:rPr lang="en-US" sz="900" dirty="0"/>
              <a:t>(</a:t>
            </a:r>
            <a:r>
              <a:rPr lang="en-US" sz="900" dirty="0" err="1"/>
              <a:t>auto_now_add</a:t>
            </a:r>
            <a:r>
              <a:rPr lang="en-US" sz="900" dirty="0"/>
              <a:t>=True)</a:t>
            </a:r>
            <a:endParaRPr lang="en-IN" sz="900" dirty="0"/>
          </a:p>
        </p:txBody>
      </p:sp>
    </p:spTree>
    <p:extLst>
      <p:ext uri="{BB962C8B-B14F-4D97-AF65-F5344CB8AC3E}">
        <p14:creationId xmlns:p14="http://schemas.microsoft.com/office/powerpoint/2010/main" val="2562092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18ACF2-A4C0-012C-5DE6-41115A4419F8}"/>
              </a:ext>
            </a:extLst>
          </p:cNvPr>
          <p:cNvSpPr>
            <a:spLocks noGrp="1"/>
          </p:cNvSpPr>
          <p:nvPr>
            <p:ph idx="1"/>
          </p:nvPr>
        </p:nvSpPr>
        <p:spPr>
          <a:xfrm>
            <a:off x="838200" y="166255"/>
            <a:ext cx="10515600" cy="6010708"/>
          </a:xfrm>
        </p:spPr>
        <p:txBody>
          <a:bodyPr>
            <a:normAutofit/>
          </a:bodyPr>
          <a:lstStyle/>
          <a:p>
            <a:pPr marL="0" indent="0">
              <a:buNone/>
            </a:pPr>
            <a:r>
              <a:rPr lang="en-US" sz="1200" b="1" u="sng" dirty="0"/>
              <a:t>admin.py</a:t>
            </a:r>
          </a:p>
          <a:p>
            <a:pPr marL="0" indent="0">
              <a:buNone/>
            </a:pPr>
            <a:r>
              <a:rPr lang="en-US" sz="1200" dirty="0"/>
              <a:t>from </a:t>
            </a:r>
            <a:r>
              <a:rPr lang="en-US" sz="1200" dirty="0" err="1"/>
              <a:t>django.contrib</a:t>
            </a:r>
            <a:r>
              <a:rPr lang="en-US" sz="1200" dirty="0"/>
              <a:t> import admin</a:t>
            </a:r>
          </a:p>
          <a:p>
            <a:pPr marL="0" indent="0">
              <a:buNone/>
            </a:pPr>
            <a:r>
              <a:rPr lang="en-US" sz="1200" dirty="0"/>
              <a:t>from .models import </a:t>
            </a:r>
            <a:r>
              <a:rPr lang="en-US" sz="1200" dirty="0" err="1"/>
              <a:t>ClickEvent</a:t>
            </a:r>
            <a:endParaRPr lang="en-US" sz="1200" dirty="0"/>
          </a:p>
          <a:p>
            <a:pPr marL="0" indent="0">
              <a:buNone/>
            </a:pPr>
            <a:endParaRPr lang="en-US" sz="1200" dirty="0"/>
          </a:p>
          <a:p>
            <a:pPr marL="0" indent="0">
              <a:buNone/>
            </a:pPr>
            <a:r>
              <a:rPr lang="en-US" sz="1200" dirty="0" err="1"/>
              <a:t>admin.site.register</a:t>
            </a:r>
            <a:r>
              <a:rPr lang="en-US" sz="1200" dirty="0"/>
              <a:t>(</a:t>
            </a:r>
            <a:r>
              <a:rPr lang="en-US" sz="1200" dirty="0" err="1"/>
              <a:t>ClickEvent</a:t>
            </a:r>
            <a:r>
              <a:rPr lang="en-US" sz="1200" dirty="0"/>
              <a:t>)</a:t>
            </a:r>
          </a:p>
          <a:p>
            <a:pPr marL="0" indent="0">
              <a:buNone/>
            </a:pPr>
            <a:r>
              <a:rPr lang="en-IN" sz="1200" b="1" u="sng" dirty="0"/>
              <a:t>apps.py</a:t>
            </a:r>
            <a:br>
              <a:rPr lang="en-IN" sz="1200" dirty="0"/>
            </a:br>
            <a:r>
              <a:rPr lang="en-IN" sz="1200" dirty="0"/>
              <a:t>from </a:t>
            </a:r>
            <a:r>
              <a:rPr lang="en-IN" sz="1200" dirty="0" err="1"/>
              <a:t>django.apps</a:t>
            </a:r>
            <a:r>
              <a:rPr lang="en-IN" sz="1200" dirty="0"/>
              <a:t> import </a:t>
            </a:r>
            <a:r>
              <a:rPr lang="en-IN" sz="1200" dirty="0" err="1"/>
              <a:t>AppConfig</a:t>
            </a:r>
            <a:br>
              <a:rPr lang="en-IN" sz="1200" dirty="0"/>
            </a:br>
            <a:br>
              <a:rPr lang="en-IN" sz="1200" dirty="0"/>
            </a:br>
            <a:r>
              <a:rPr lang="en-IN" sz="1200" dirty="0"/>
              <a:t>class DetectionConfig(</a:t>
            </a:r>
            <a:r>
              <a:rPr lang="en-IN" sz="1200" dirty="0" err="1"/>
              <a:t>AppConfig</a:t>
            </a:r>
            <a:r>
              <a:rPr lang="en-IN" sz="1200" dirty="0"/>
              <a:t>):</a:t>
            </a:r>
            <a:br>
              <a:rPr lang="en-IN" sz="1200" dirty="0"/>
            </a:br>
            <a:r>
              <a:rPr lang="en-IN" sz="1200" dirty="0"/>
              <a:t>    </a:t>
            </a:r>
            <a:r>
              <a:rPr lang="en-IN" sz="1200" dirty="0" err="1"/>
              <a:t>default_auto_field</a:t>
            </a:r>
            <a:r>
              <a:rPr lang="en-IN" sz="1200" dirty="0"/>
              <a:t> = '</a:t>
            </a:r>
            <a:r>
              <a:rPr lang="en-IN" sz="1200" dirty="0" err="1"/>
              <a:t>django.db.models.BigAutoField</a:t>
            </a:r>
            <a:r>
              <a:rPr lang="en-IN" sz="1200" dirty="0"/>
              <a:t>'</a:t>
            </a:r>
            <a:br>
              <a:rPr lang="en-IN" sz="1200" dirty="0"/>
            </a:br>
            <a:r>
              <a:rPr lang="en-IN" sz="1200" dirty="0"/>
              <a:t>    name = 'detection</a:t>
            </a:r>
            <a:r>
              <a:rPr lang="en-IN" dirty="0"/>
              <a:t>’</a:t>
            </a:r>
          </a:p>
          <a:p>
            <a:pPr marL="0" indent="0">
              <a:buNone/>
            </a:pPr>
            <a:r>
              <a:rPr lang="en-IN" sz="1200" b="1" u="sng" dirty="0"/>
              <a:t>App urls.py</a:t>
            </a:r>
          </a:p>
          <a:p>
            <a:pPr marL="0" indent="0">
              <a:buNone/>
            </a:pPr>
            <a:r>
              <a:rPr lang="en-IN" sz="1200" dirty="0"/>
              <a:t>from </a:t>
            </a:r>
            <a:r>
              <a:rPr lang="en-IN" sz="1200" dirty="0" err="1"/>
              <a:t>django.urls</a:t>
            </a:r>
            <a:r>
              <a:rPr lang="en-IN" sz="1200" dirty="0"/>
              <a:t> import path</a:t>
            </a:r>
          </a:p>
          <a:p>
            <a:pPr marL="0" indent="0">
              <a:buNone/>
            </a:pPr>
            <a:r>
              <a:rPr lang="en-IN" sz="1200" dirty="0"/>
              <a:t>from . import views</a:t>
            </a:r>
          </a:p>
          <a:p>
            <a:pPr marL="0" indent="0">
              <a:buNone/>
            </a:pPr>
            <a:endParaRPr lang="en-IN" sz="1200" dirty="0"/>
          </a:p>
          <a:p>
            <a:pPr marL="0" indent="0">
              <a:buNone/>
            </a:pPr>
            <a:r>
              <a:rPr lang="en-IN" sz="1200" dirty="0" err="1"/>
              <a:t>urlpatterns</a:t>
            </a:r>
            <a:r>
              <a:rPr lang="en-IN" sz="1200" dirty="0"/>
              <a:t> = [</a:t>
            </a:r>
          </a:p>
          <a:p>
            <a:pPr marL="0" indent="0">
              <a:buNone/>
            </a:pPr>
            <a:r>
              <a:rPr lang="en-IN" sz="1200" dirty="0"/>
              <a:t>    path('', </a:t>
            </a:r>
            <a:r>
              <a:rPr lang="en-IN" sz="1200" dirty="0" err="1"/>
              <a:t>views.home</a:t>
            </a:r>
            <a:r>
              <a:rPr lang="en-IN" sz="1200" dirty="0"/>
              <a:t>, name='home'),</a:t>
            </a:r>
          </a:p>
          <a:p>
            <a:pPr marL="0" indent="0">
              <a:buNone/>
            </a:pPr>
            <a:r>
              <a:rPr lang="en-IN" sz="1200" dirty="0"/>
              <a:t>    path('training/', </a:t>
            </a:r>
            <a:r>
              <a:rPr lang="en-IN" sz="1200" dirty="0" err="1"/>
              <a:t>views.training</a:t>
            </a:r>
            <a:r>
              <a:rPr lang="en-IN" sz="1200" dirty="0"/>
              <a:t>, name='training'),</a:t>
            </a:r>
          </a:p>
          <a:p>
            <a:pPr marL="0" indent="0">
              <a:buNone/>
            </a:pPr>
            <a:r>
              <a:rPr lang="en-IN" sz="1200" dirty="0"/>
              <a:t>    path('prediction/', </a:t>
            </a:r>
            <a:r>
              <a:rPr lang="en-IN" sz="1200" dirty="0" err="1"/>
              <a:t>views.prediction</a:t>
            </a:r>
            <a:r>
              <a:rPr lang="en-IN" sz="1200" dirty="0"/>
              <a:t>, name='prediction'),</a:t>
            </a:r>
          </a:p>
          <a:p>
            <a:pPr marL="0" indent="0">
              <a:buNone/>
            </a:pPr>
            <a:r>
              <a:rPr lang="en-IN" sz="1200" dirty="0"/>
              <a:t>]</a:t>
            </a:r>
          </a:p>
        </p:txBody>
      </p:sp>
    </p:spTree>
    <p:extLst>
      <p:ext uri="{BB962C8B-B14F-4D97-AF65-F5344CB8AC3E}">
        <p14:creationId xmlns:p14="http://schemas.microsoft.com/office/powerpoint/2010/main" val="3491249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4EF73D-0939-94C9-5439-FE50A272319D}"/>
              </a:ext>
            </a:extLst>
          </p:cNvPr>
          <p:cNvSpPr>
            <a:spLocks noGrp="1"/>
          </p:cNvSpPr>
          <p:nvPr>
            <p:ph idx="1"/>
          </p:nvPr>
        </p:nvSpPr>
        <p:spPr>
          <a:xfrm>
            <a:off x="838200" y="318655"/>
            <a:ext cx="10515600" cy="5858308"/>
          </a:xfrm>
        </p:spPr>
        <p:txBody>
          <a:bodyPr>
            <a:noAutofit/>
          </a:bodyPr>
          <a:lstStyle/>
          <a:p>
            <a:pPr marL="0" indent="0">
              <a:buNone/>
            </a:pPr>
            <a:r>
              <a:rPr lang="en-IN" sz="1200" b="1" u="sng" dirty="0"/>
              <a:t>views.py</a:t>
            </a:r>
            <a:endParaRPr lang="en-US" sz="1200" b="1" u="sng" dirty="0"/>
          </a:p>
          <a:p>
            <a:pPr marL="0" indent="0">
              <a:buNone/>
            </a:pPr>
            <a:r>
              <a:rPr lang="en-US" sz="1200" dirty="0"/>
              <a:t>from </a:t>
            </a:r>
            <a:r>
              <a:rPr lang="en-US" sz="1200" dirty="0" err="1"/>
              <a:t>django.shortcuts</a:t>
            </a:r>
            <a:r>
              <a:rPr lang="en-US" sz="1200" dirty="0"/>
              <a:t> import render</a:t>
            </a:r>
          </a:p>
          <a:p>
            <a:pPr marL="0" indent="0">
              <a:buNone/>
            </a:pPr>
            <a:r>
              <a:rPr lang="en-US" sz="1200" dirty="0"/>
              <a:t>from .</a:t>
            </a:r>
            <a:r>
              <a:rPr lang="en-US" sz="1200" dirty="0" err="1"/>
              <a:t>lstm</a:t>
            </a:r>
            <a:r>
              <a:rPr lang="en-US" sz="1200" dirty="0"/>
              <a:t> import </a:t>
            </a:r>
            <a:r>
              <a:rPr lang="en-US" sz="1200" dirty="0" err="1"/>
              <a:t>lstm_training</a:t>
            </a:r>
            <a:endParaRPr lang="en-US" sz="1200" dirty="0"/>
          </a:p>
          <a:p>
            <a:pPr marL="0" indent="0">
              <a:buNone/>
            </a:pPr>
            <a:r>
              <a:rPr lang="en-US" sz="1200" dirty="0"/>
              <a:t>from .</a:t>
            </a:r>
            <a:r>
              <a:rPr lang="en-US" sz="1200" dirty="0" err="1"/>
              <a:t>rfc</a:t>
            </a:r>
            <a:r>
              <a:rPr lang="en-US" sz="1200" dirty="0"/>
              <a:t> import </a:t>
            </a:r>
            <a:r>
              <a:rPr lang="en-US" sz="1200" dirty="0" err="1"/>
              <a:t>rfc_training</a:t>
            </a:r>
            <a:endParaRPr lang="en-US" sz="1200" dirty="0"/>
          </a:p>
          <a:p>
            <a:pPr marL="0" indent="0">
              <a:buNone/>
            </a:pPr>
            <a:r>
              <a:rPr lang="en-US" sz="1200" dirty="0"/>
              <a:t>def home(request):</a:t>
            </a:r>
          </a:p>
          <a:p>
            <a:pPr marL="0" indent="0">
              <a:buNone/>
            </a:pPr>
            <a:r>
              <a:rPr lang="en-US" sz="1200" dirty="0"/>
              <a:t>    return render(</a:t>
            </a:r>
            <a:r>
              <a:rPr lang="en-US" sz="1200" dirty="0" err="1"/>
              <a:t>request,"index.html</a:t>
            </a:r>
            <a:r>
              <a:rPr lang="en-US" sz="1200" dirty="0"/>
              <a:t>")</a:t>
            </a:r>
          </a:p>
          <a:p>
            <a:pPr marL="0" indent="0">
              <a:buNone/>
            </a:pPr>
            <a:r>
              <a:rPr lang="en-US" sz="1200" dirty="0"/>
              <a:t>def training(request):</a:t>
            </a:r>
          </a:p>
          <a:p>
            <a:pPr marL="0" indent="0">
              <a:buNone/>
            </a:pPr>
            <a:r>
              <a:rPr lang="en-US" sz="1200" dirty="0"/>
              <a:t>    </a:t>
            </a:r>
            <a:r>
              <a:rPr lang="en-US" sz="1200" dirty="0" err="1"/>
              <a:t>rfc_accuracy</a:t>
            </a:r>
            <a:r>
              <a:rPr lang="en-US" sz="1200" dirty="0"/>
              <a:t> = </a:t>
            </a:r>
            <a:r>
              <a:rPr lang="en-US" sz="1200" dirty="0" err="1"/>
              <a:t>rfc_training</a:t>
            </a:r>
            <a:r>
              <a:rPr lang="en-US" sz="1200" dirty="0"/>
              <a:t>()</a:t>
            </a:r>
          </a:p>
          <a:p>
            <a:pPr marL="0" indent="0">
              <a:buNone/>
            </a:pPr>
            <a:r>
              <a:rPr lang="en-US" sz="1200" dirty="0"/>
              <a:t>    </a:t>
            </a:r>
            <a:r>
              <a:rPr lang="en-US" sz="1200" dirty="0" err="1"/>
              <a:t>lstm_model</a:t>
            </a:r>
            <a:r>
              <a:rPr lang="en-US" sz="1200" dirty="0"/>
              <a:t> = </a:t>
            </a:r>
            <a:r>
              <a:rPr lang="en-US" sz="1200" dirty="0" err="1"/>
              <a:t>lstm_training</a:t>
            </a:r>
            <a:r>
              <a:rPr lang="en-US" sz="1200" dirty="0"/>
              <a:t>()</a:t>
            </a:r>
          </a:p>
          <a:p>
            <a:pPr marL="0" indent="0">
              <a:buNone/>
            </a:pPr>
            <a:endParaRPr lang="en-US" sz="1200" dirty="0"/>
          </a:p>
          <a:p>
            <a:pPr marL="0" indent="0">
              <a:buNone/>
            </a:pPr>
            <a:r>
              <a:rPr lang="en-US" sz="1200" dirty="0"/>
              <a:t>    return render(</a:t>
            </a:r>
            <a:r>
              <a:rPr lang="en-US" sz="1200" dirty="0" err="1"/>
              <a:t>request,"training.html</a:t>
            </a:r>
            <a:r>
              <a:rPr lang="en-US" sz="1200" dirty="0"/>
              <a:t>",{</a:t>
            </a:r>
          </a:p>
          <a:p>
            <a:pPr marL="0" indent="0">
              <a:buNone/>
            </a:pPr>
            <a:r>
              <a:rPr lang="en-US" sz="1200" dirty="0"/>
              <a:t>        'accuracy': </a:t>
            </a:r>
            <a:r>
              <a:rPr lang="en-US" sz="1200" dirty="0" err="1"/>
              <a:t>rfc_accuracy</a:t>
            </a:r>
            <a:endParaRPr lang="en-US" sz="1200" dirty="0"/>
          </a:p>
          <a:p>
            <a:pPr marL="0" indent="0">
              <a:buNone/>
            </a:pPr>
            <a:r>
              <a:rPr lang="en-US" sz="1200" dirty="0"/>
              <a:t>    })</a:t>
            </a:r>
          </a:p>
          <a:p>
            <a:pPr marL="0" indent="0">
              <a:buNone/>
            </a:pPr>
            <a:r>
              <a:rPr lang="en-US" sz="1200" dirty="0"/>
              <a:t>def prediction(request):</a:t>
            </a:r>
          </a:p>
          <a:p>
            <a:pPr marL="0" indent="0">
              <a:buNone/>
            </a:pPr>
            <a:r>
              <a:rPr lang="en-US" sz="1200" dirty="0"/>
              <a:t>    result = "Prediction Result"</a:t>
            </a:r>
          </a:p>
          <a:p>
            <a:pPr marL="0" indent="0">
              <a:buNone/>
            </a:pPr>
            <a:endParaRPr lang="en-US" sz="1200" dirty="0"/>
          </a:p>
          <a:p>
            <a:pPr marL="0" indent="0">
              <a:buNone/>
            </a:pPr>
            <a:r>
              <a:rPr lang="en-US" sz="1200" dirty="0"/>
              <a:t>    return render(</a:t>
            </a:r>
            <a:r>
              <a:rPr lang="en-US" sz="1200" dirty="0" err="1"/>
              <a:t>request,"prediction.html</a:t>
            </a:r>
            <a:r>
              <a:rPr lang="en-US" sz="1200" dirty="0"/>
              <a:t>",{</a:t>
            </a:r>
          </a:p>
          <a:p>
            <a:pPr marL="0" indent="0">
              <a:buNone/>
            </a:pPr>
            <a:r>
              <a:rPr lang="en-US" sz="1200" dirty="0"/>
              <a:t>        'result': result</a:t>
            </a:r>
          </a:p>
          <a:p>
            <a:pPr marL="0" indent="0">
              <a:buNone/>
            </a:pPr>
            <a:r>
              <a:rPr lang="en-US" sz="1200" dirty="0"/>
              <a:t>    })</a:t>
            </a:r>
            <a:endParaRPr lang="en-IN" sz="1200" dirty="0"/>
          </a:p>
        </p:txBody>
      </p:sp>
    </p:spTree>
    <p:extLst>
      <p:ext uri="{BB962C8B-B14F-4D97-AF65-F5344CB8AC3E}">
        <p14:creationId xmlns:p14="http://schemas.microsoft.com/office/powerpoint/2010/main" val="1578433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7321D0-2D72-3AAB-74AF-A69FB296D9E2}"/>
              </a:ext>
            </a:extLst>
          </p:cNvPr>
          <p:cNvSpPr>
            <a:spLocks noGrp="1"/>
          </p:cNvSpPr>
          <p:nvPr>
            <p:ph idx="1"/>
          </p:nvPr>
        </p:nvSpPr>
        <p:spPr>
          <a:xfrm>
            <a:off x="838200" y="193964"/>
            <a:ext cx="10515600" cy="6532418"/>
          </a:xfrm>
        </p:spPr>
        <p:txBody>
          <a:bodyPr>
            <a:normAutofit fontScale="40000" lnSpcReduction="20000"/>
          </a:bodyPr>
          <a:lstStyle/>
          <a:p>
            <a:pPr marL="0" indent="0">
              <a:buNone/>
            </a:pPr>
            <a:r>
              <a:rPr lang="en-IN" sz="3000" b="1" u="sng" dirty="0"/>
              <a:t>Random Forest (rfc.py)</a:t>
            </a:r>
          </a:p>
          <a:p>
            <a:pPr marL="0" indent="0">
              <a:buNone/>
            </a:pPr>
            <a:r>
              <a:rPr lang="en-IN" dirty="0"/>
              <a:t>import pandas as pd</a:t>
            </a:r>
          </a:p>
          <a:p>
            <a:pPr marL="0" indent="0">
              <a:buNone/>
            </a:pPr>
            <a:r>
              <a:rPr lang="en-IN" dirty="0"/>
              <a:t>from </a:t>
            </a:r>
            <a:r>
              <a:rPr lang="en-IN" dirty="0" err="1"/>
              <a:t>sklearn.model_selection</a:t>
            </a:r>
            <a:r>
              <a:rPr lang="en-IN" dirty="0"/>
              <a:t> import </a:t>
            </a:r>
            <a:r>
              <a:rPr lang="en-IN" dirty="0" err="1"/>
              <a:t>train_test_split</a:t>
            </a:r>
            <a:endParaRPr lang="en-IN" dirty="0"/>
          </a:p>
          <a:p>
            <a:pPr marL="0" indent="0">
              <a:buNone/>
            </a:pPr>
            <a:r>
              <a:rPr lang="en-IN" dirty="0"/>
              <a:t>from </a:t>
            </a:r>
            <a:r>
              <a:rPr lang="en-IN" dirty="0" err="1"/>
              <a:t>sklearn.preprocessing</a:t>
            </a:r>
            <a:r>
              <a:rPr lang="en-IN" dirty="0"/>
              <a:t> import </a:t>
            </a:r>
            <a:r>
              <a:rPr lang="en-IN" dirty="0" err="1"/>
              <a:t>LabelEncoder</a:t>
            </a:r>
            <a:r>
              <a:rPr lang="en-IN" dirty="0"/>
              <a:t>, </a:t>
            </a:r>
            <a:r>
              <a:rPr lang="en-IN" dirty="0" err="1"/>
              <a:t>StandardScaler</a:t>
            </a:r>
            <a:endParaRPr lang="en-IN" dirty="0"/>
          </a:p>
          <a:p>
            <a:pPr marL="0" indent="0">
              <a:buNone/>
            </a:pPr>
            <a:r>
              <a:rPr lang="en-IN" dirty="0"/>
              <a:t>from </a:t>
            </a:r>
            <a:r>
              <a:rPr lang="en-IN" dirty="0" err="1"/>
              <a:t>sklearn.ensemble</a:t>
            </a:r>
            <a:r>
              <a:rPr lang="en-IN" dirty="0"/>
              <a:t> import </a:t>
            </a:r>
            <a:r>
              <a:rPr lang="en-IN" dirty="0" err="1"/>
              <a:t>RandomForestClassifier</a:t>
            </a:r>
            <a:endParaRPr lang="en-IN" dirty="0"/>
          </a:p>
          <a:p>
            <a:pPr marL="0" indent="0">
              <a:buNone/>
            </a:pPr>
            <a:r>
              <a:rPr lang="en-IN" dirty="0"/>
              <a:t>from </a:t>
            </a:r>
            <a:r>
              <a:rPr lang="en-IN" dirty="0" err="1"/>
              <a:t>sklearn.metrics</a:t>
            </a:r>
            <a:r>
              <a:rPr lang="en-IN" dirty="0"/>
              <a:t> import </a:t>
            </a:r>
            <a:r>
              <a:rPr lang="en-IN" dirty="0" err="1"/>
              <a:t>accuracy_score</a:t>
            </a:r>
            <a:endParaRPr lang="en-IN" dirty="0"/>
          </a:p>
          <a:p>
            <a:pPr marL="0" indent="0">
              <a:buNone/>
            </a:pPr>
            <a:endParaRPr lang="en-IN" dirty="0"/>
          </a:p>
          <a:p>
            <a:pPr marL="0" indent="0">
              <a:buNone/>
            </a:pPr>
            <a:r>
              <a:rPr lang="en-IN" dirty="0"/>
              <a:t>def </a:t>
            </a:r>
            <a:r>
              <a:rPr lang="en-IN" dirty="0" err="1"/>
              <a:t>rfc_training</a:t>
            </a:r>
            <a:r>
              <a:rPr lang="en-IN" dirty="0"/>
              <a:t>():</a:t>
            </a:r>
          </a:p>
          <a:p>
            <a:pPr marL="0" indent="0">
              <a:buNone/>
            </a:pPr>
            <a:r>
              <a:rPr lang="en-IN" dirty="0"/>
              <a:t>    </a:t>
            </a:r>
            <a:r>
              <a:rPr lang="en-IN" dirty="0" err="1"/>
              <a:t>df</a:t>
            </a:r>
            <a:r>
              <a:rPr lang="en-IN" dirty="0"/>
              <a:t> = </a:t>
            </a:r>
            <a:r>
              <a:rPr lang="en-IN" dirty="0" err="1"/>
              <a:t>pd.read_csv</a:t>
            </a:r>
            <a:r>
              <a:rPr lang="en-IN" dirty="0"/>
              <a:t>("click_fraud_clened.csv")</a:t>
            </a:r>
          </a:p>
          <a:p>
            <a:pPr marL="0" indent="0">
              <a:buNone/>
            </a:pPr>
            <a:r>
              <a:rPr lang="en-IN" dirty="0"/>
              <a:t>    </a:t>
            </a:r>
            <a:r>
              <a:rPr lang="en-IN" dirty="0" err="1"/>
              <a:t>df</a:t>
            </a:r>
            <a:r>
              <a:rPr lang="en-IN" dirty="0"/>
              <a:t> = </a:t>
            </a:r>
            <a:r>
              <a:rPr lang="en-IN" dirty="0" err="1"/>
              <a:t>df.dropna</a:t>
            </a:r>
            <a:r>
              <a:rPr lang="en-IN" dirty="0"/>
              <a:t>()</a:t>
            </a:r>
          </a:p>
          <a:p>
            <a:pPr marL="0" indent="0">
              <a:buNone/>
            </a:pPr>
            <a:endParaRPr lang="en-IN" dirty="0"/>
          </a:p>
          <a:p>
            <a:pPr marL="0" indent="0">
              <a:buNone/>
            </a:pPr>
            <a:r>
              <a:rPr lang="en-IN" dirty="0"/>
              <a:t>    X = </a:t>
            </a:r>
            <a:r>
              <a:rPr lang="en-IN" dirty="0" err="1"/>
              <a:t>df.drop</a:t>
            </a:r>
            <a:r>
              <a:rPr lang="en-IN" dirty="0"/>
              <a:t>("</a:t>
            </a:r>
            <a:r>
              <a:rPr lang="en-IN" dirty="0" err="1"/>
              <a:t>is_fraudulent</a:t>
            </a:r>
            <a:r>
              <a:rPr lang="en-IN" dirty="0"/>
              <a:t>", axis=1)</a:t>
            </a:r>
          </a:p>
          <a:p>
            <a:pPr marL="0" indent="0">
              <a:buNone/>
            </a:pPr>
            <a:r>
              <a:rPr lang="en-IN" dirty="0"/>
              <a:t>    y = </a:t>
            </a:r>
            <a:r>
              <a:rPr lang="en-IN" dirty="0" err="1"/>
              <a:t>df</a:t>
            </a:r>
            <a:r>
              <a:rPr lang="en-IN" dirty="0"/>
              <a:t>["</a:t>
            </a:r>
            <a:r>
              <a:rPr lang="en-IN" dirty="0" err="1"/>
              <a:t>is_fraudulent</a:t>
            </a:r>
            <a:r>
              <a:rPr lang="en-IN" dirty="0"/>
              <a:t>"]</a:t>
            </a:r>
          </a:p>
          <a:p>
            <a:pPr marL="0" indent="0">
              <a:buNone/>
            </a:pPr>
            <a:endParaRPr lang="en-IN" dirty="0"/>
          </a:p>
          <a:p>
            <a:pPr marL="0" indent="0">
              <a:buNone/>
            </a:pPr>
            <a:r>
              <a:rPr lang="en-IN" dirty="0"/>
              <a:t>    for col in </a:t>
            </a:r>
            <a:r>
              <a:rPr lang="en-IN" dirty="0" err="1"/>
              <a:t>X.select_dtypes</a:t>
            </a:r>
            <a:r>
              <a:rPr lang="en-IN" dirty="0"/>
              <a:t>(include="object"):</a:t>
            </a:r>
          </a:p>
          <a:p>
            <a:pPr marL="0" indent="0">
              <a:buNone/>
            </a:pPr>
            <a:r>
              <a:rPr lang="en-IN" dirty="0"/>
              <a:t>        X[col] = </a:t>
            </a:r>
            <a:r>
              <a:rPr lang="en-IN" dirty="0" err="1"/>
              <a:t>LabelEncoder</a:t>
            </a:r>
            <a:r>
              <a:rPr lang="en-IN" dirty="0"/>
              <a:t>().</a:t>
            </a:r>
            <a:r>
              <a:rPr lang="en-IN" dirty="0" err="1"/>
              <a:t>fit_transform</a:t>
            </a:r>
            <a:r>
              <a:rPr lang="en-IN" dirty="0"/>
              <a:t>(X[col])</a:t>
            </a:r>
          </a:p>
          <a:p>
            <a:pPr marL="0" indent="0">
              <a:buNone/>
            </a:pPr>
            <a:endParaRPr lang="en-IN" dirty="0"/>
          </a:p>
          <a:p>
            <a:pPr marL="0" indent="0">
              <a:buNone/>
            </a:pPr>
            <a:r>
              <a:rPr lang="en-IN" dirty="0"/>
              <a:t>    X = </a:t>
            </a:r>
            <a:r>
              <a:rPr lang="en-IN" dirty="0" err="1"/>
              <a:t>StandardScaler</a:t>
            </a:r>
            <a:r>
              <a:rPr lang="en-IN" dirty="0"/>
              <a:t>().</a:t>
            </a:r>
            <a:r>
              <a:rPr lang="en-IN" dirty="0" err="1"/>
              <a:t>fit_transform</a:t>
            </a:r>
            <a:r>
              <a:rPr lang="en-IN" dirty="0"/>
              <a:t>(X)</a:t>
            </a:r>
          </a:p>
          <a:p>
            <a:pPr marL="0" indent="0">
              <a:buNone/>
            </a:pPr>
            <a:endParaRPr lang="en-IN" dirty="0"/>
          </a:p>
          <a:p>
            <a:pPr marL="0" indent="0">
              <a:buNone/>
            </a:pPr>
            <a:r>
              <a:rPr lang="en-IN" dirty="0"/>
              <a:t>    </a:t>
            </a:r>
            <a:r>
              <a:rPr lang="en-IN" dirty="0" err="1"/>
              <a:t>X_train,X_test,y_train,y_test</a:t>
            </a:r>
            <a:r>
              <a:rPr lang="en-IN" dirty="0"/>
              <a:t> = </a:t>
            </a:r>
            <a:r>
              <a:rPr lang="en-IN" dirty="0" err="1"/>
              <a:t>train_test_split</a:t>
            </a:r>
            <a:r>
              <a:rPr lang="en-IN" dirty="0"/>
              <a:t>(</a:t>
            </a:r>
            <a:r>
              <a:rPr lang="en-IN" dirty="0" err="1"/>
              <a:t>X,y,test_size</a:t>
            </a:r>
            <a:r>
              <a:rPr lang="en-IN" dirty="0"/>
              <a:t>=0.2)</a:t>
            </a:r>
          </a:p>
          <a:p>
            <a:pPr marL="0" indent="0">
              <a:buNone/>
            </a:pPr>
            <a:endParaRPr lang="en-IN" dirty="0"/>
          </a:p>
          <a:p>
            <a:pPr marL="0" indent="0">
              <a:buNone/>
            </a:pPr>
            <a:r>
              <a:rPr lang="en-IN" dirty="0"/>
              <a:t>    model = </a:t>
            </a:r>
            <a:r>
              <a:rPr lang="en-IN" dirty="0" err="1"/>
              <a:t>RandomForestClassifier</a:t>
            </a:r>
            <a:r>
              <a:rPr lang="en-IN" dirty="0"/>
              <a:t>()</a:t>
            </a:r>
          </a:p>
          <a:p>
            <a:pPr marL="0" indent="0">
              <a:buNone/>
            </a:pPr>
            <a:r>
              <a:rPr lang="en-IN" dirty="0"/>
              <a:t>    </a:t>
            </a:r>
            <a:r>
              <a:rPr lang="en-IN" dirty="0" err="1"/>
              <a:t>model.fit</a:t>
            </a:r>
            <a:r>
              <a:rPr lang="en-IN" dirty="0"/>
              <a:t>(</a:t>
            </a:r>
            <a:r>
              <a:rPr lang="en-IN" dirty="0" err="1"/>
              <a:t>X_train,y_train</a:t>
            </a:r>
            <a:r>
              <a:rPr lang="en-IN" dirty="0"/>
              <a:t>)</a:t>
            </a:r>
          </a:p>
          <a:p>
            <a:pPr marL="0" indent="0">
              <a:buNone/>
            </a:pPr>
            <a:endParaRPr lang="en-IN" dirty="0"/>
          </a:p>
          <a:p>
            <a:pPr marL="0" indent="0">
              <a:buNone/>
            </a:pPr>
            <a:r>
              <a:rPr lang="en-IN" dirty="0"/>
              <a:t>    predictions = </a:t>
            </a:r>
            <a:r>
              <a:rPr lang="en-IN" dirty="0" err="1"/>
              <a:t>model.predict</a:t>
            </a:r>
            <a:r>
              <a:rPr lang="en-IN" dirty="0"/>
              <a:t>(</a:t>
            </a:r>
            <a:r>
              <a:rPr lang="en-IN" dirty="0" err="1"/>
              <a:t>X_test</a:t>
            </a:r>
            <a:r>
              <a:rPr lang="en-IN" dirty="0"/>
              <a:t>)</a:t>
            </a:r>
          </a:p>
          <a:p>
            <a:pPr marL="0" indent="0">
              <a:buNone/>
            </a:pPr>
            <a:r>
              <a:rPr lang="en-IN" dirty="0"/>
              <a:t>    return </a:t>
            </a:r>
            <a:r>
              <a:rPr lang="en-IN" dirty="0" err="1"/>
              <a:t>accuracy_score</a:t>
            </a:r>
            <a:r>
              <a:rPr lang="en-IN" dirty="0"/>
              <a:t>(</a:t>
            </a:r>
            <a:r>
              <a:rPr lang="en-IN" dirty="0" err="1"/>
              <a:t>y_test,predictions</a:t>
            </a:r>
            <a:r>
              <a:rPr lang="en-IN" dirty="0"/>
              <a:t>)</a:t>
            </a:r>
          </a:p>
        </p:txBody>
      </p:sp>
    </p:spTree>
    <p:extLst>
      <p:ext uri="{BB962C8B-B14F-4D97-AF65-F5344CB8AC3E}">
        <p14:creationId xmlns:p14="http://schemas.microsoft.com/office/powerpoint/2010/main" val="42878551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1C4F67-8769-C7F7-407D-5947C34542ED}"/>
              </a:ext>
            </a:extLst>
          </p:cNvPr>
          <p:cNvSpPr>
            <a:spLocks noGrp="1"/>
          </p:cNvSpPr>
          <p:nvPr>
            <p:ph idx="1"/>
          </p:nvPr>
        </p:nvSpPr>
        <p:spPr>
          <a:xfrm>
            <a:off x="838200" y="290945"/>
            <a:ext cx="10515600" cy="5886018"/>
          </a:xfrm>
        </p:spPr>
        <p:txBody>
          <a:bodyPr>
            <a:noAutofit/>
          </a:bodyPr>
          <a:lstStyle/>
          <a:p>
            <a:pPr marL="0" indent="0">
              <a:buNone/>
            </a:pPr>
            <a:r>
              <a:rPr lang="en-IN" sz="900" b="1" u="sng" dirty="0"/>
              <a:t>LSTM Model (lstm.py)</a:t>
            </a:r>
          </a:p>
          <a:p>
            <a:pPr marL="0" indent="0">
              <a:buNone/>
            </a:pPr>
            <a:r>
              <a:rPr lang="en-IN" sz="900" dirty="0"/>
              <a:t>import pandas as pd</a:t>
            </a:r>
          </a:p>
          <a:p>
            <a:pPr marL="0" indent="0">
              <a:buNone/>
            </a:pPr>
            <a:r>
              <a:rPr lang="en-IN" sz="900" dirty="0"/>
              <a:t>from </a:t>
            </a:r>
            <a:r>
              <a:rPr lang="en-IN" sz="900" dirty="0" err="1"/>
              <a:t>sklearn.model_selection</a:t>
            </a:r>
            <a:r>
              <a:rPr lang="en-IN" sz="900" dirty="0"/>
              <a:t> import </a:t>
            </a:r>
            <a:r>
              <a:rPr lang="en-IN" sz="900" dirty="0" err="1"/>
              <a:t>train_test_split</a:t>
            </a:r>
            <a:endParaRPr lang="en-IN" sz="900" dirty="0"/>
          </a:p>
          <a:p>
            <a:pPr marL="0" indent="0">
              <a:buNone/>
            </a:pPr>
            <a:r>
              <a:rPr lang="en-IN" sz="900" dirty="0"/>
              <a:t>from </a:t>
            </a:r>
            <a:r>
              <a:rPr lang="en-IN" sz="900" dirty="0" err="1"/>
              <a:t>sklearn.preprocessing</a:t>
            </a:r>
            <a:r>
              <a:rPr lang="en-IN" sz="900" dirty="0"/>
              <a:t> import </a:t>
            </a:r>
            <a:r>
              <a:rPr lang="en-IN" sz="900" dirty="0" err="1"/>
              <a:t>LabelEncoder,StandardScaler</a:t>
            </a:r>
            <a:endParaRPr lang="en-IN" sz="900" dirty="0"/>
          </a:p>
          <a:p>
            <a:pPr marL="0" indent="0">
              <a:buNone/>
            </a:pPr>
            <a:r>
              <a:rPr lang="en-IN" sz="900" dirty="0"/>
              <a:t>from </a:t>
            </a:r>
            <a:r>
              <a:rPr lang="en-IN" sz="900" dirty="0" err="1"/>
              <a:t>tensorflow.keras.models</a:t>
            </a:r>
            <a:r>
              <a:rPr lang="en-IN" sz="900" dirty="0"/>
              <a:t> import Sequential</a:t>
            </a:r>
          </a:p>
          <a:p>
            <a:pPr marL="0" indent="0">
              <a:buNone/>
            </a:pPr>
            <a:r>
              <a:rPr lang="en-IN" sz="900" dirty="0"/>
              <a:t>from </a:t>
            </a:r>
            <a:r>
              <a:rPr lang="en-IN" sz="900" dirty="0" err="1"/>
              <a:t>tensorflow.keras.layers</a:t>
            </a:r>
            <a:r>
              <a:rPr lang="en-IN" sz="900" dirty="0"/>
              <a:t> import </a:t>
            </a:r>
            <a:r>
              <a:rPr lang="en-IN" sz="900" dirty="0" err="1"/>
              <a:t>LSTM,Dense,Dropout</a:t>
            </a:r>
            <a:endParaRPr lang="en-IN" sz="900" dirty="0"/>
          </a:p>
          <a:p>
            <a:pPr marL="0" indent="0">
              <a:buNone/>
            </a:pPr>
            <a:r>
              <a:rPr lang="en-IN" sz="900" dirty="0"/>
              <a:t>def </a:t>
            </a:r>
            <a:r>
              <a:rPr lang="en-IN" sz="900" dirty="0" err="1"/>
              <a:t>lstm_training</a:t>
            </a:r>
            <a:r>
              <a:rPr lang="en-IN" sz="900" dirty="0"/>
              <a:t>():</a:t>
            </a:r>
          </a:p>
          <a:p>
            <a:pPr marL="0" indent="0">
              <a:buNone/>
            </a:pPr>
            <a:r>
              <a:rPr lang="en-IN" sz="900" dirty="0"/>
              <a:t>    </a:t>
            </a:r>
            <a:r>
              <a:rPr lang="en-IN" sz="900" dirty="0" err="1"/>
              <a:t>df</a:t>
            </a:r>
            <a:r>
              <a:rPr lang="en-IN" sz="900" dirty="0"/>
              <a:t> = </a:t>
            </a:r>
            <a:r>
              <a:rPr lang="en-IN" sz="900" dirty="0" err="1"/>
              <a:t>pd.read_csv</a:t>
            </a:r>
            <a:r>
              <a:rPr lang="en-IN" sz="900" dirty="0"/>
              <a:t>("click_fraud_clened.csv")</a:t>
            </a:r>
          </a:p>
          <a:p>
            <a:pPr marL="0" indent="0">
              <a:buNone/>
            </a:pPr>
            <a:r>
              <a:rPr lang="en-IN" sz="900" dirty="0"/>
              <a:t>    </a:t>
            </a:r>
            <a:r>
              <a:rPr lang="en-IN" sz="900" dirty="0" err="1"/>
              <a:t>df</a:t>
            </a:r>
            <a:r>
              <a:rPr lang="en-IN" sz="900" dirty="0"/>
              <a:t> = </a:t>
            </a:r>
            <a:r>
              <a:rPr lang="en-IN" sz="900" dirty="0" err="1"/>
              <a:t>df.dropna</a:t>
            </a:r>
            <a:r>
              <a:rPr lang="en-IN" sz="900" dirty="0"/>
              <a:t>()</a:t>
            </a:r>
          </a:p>
          <a:p>
            <a:pPr marL="0" indent="0">
              <a:buNone/>
            </a:pPr>
            <a:r>
              <a:rPr lang="en-IN" sz="900" dirty="0"/>
              <a:t>    X = </a:t>
            </a:r>
            <a:r>
              <a:rPr lang="en-IN" sz="900" dirty="0" err="1"/>
              <a:t>df.drop</a:t>
            </a:r>
            <a:r>
              <a:rPr lang="en-IN" sz="900" dirty="0"/>
              <a:t>("</a:t>
            </a:r>
            <a:r>
              <a:rPr lang="en-IN" sz="900" dirty="0" err="1"/>
              <a:t>is_fraudulent",axis</a:t>
            </a:r>
            <a:r>
              <a:rPr lang="en-IN" sz="900" dirty="0"/>
              <a:t>=1)</a:t>
            </a:r>
          </a:p>
          <a:p>
            <a:pPr marL="0" indent="0">
              <a:buNone/>
            </a:pPr>
            <a:r>
              <a:rPr lang="en-IN" sz="900" dirty="0"/>
              <a:t>    y = </a:t>
            </a:r>
            <a:r>
              <a:rPr lang="en-IN" sz="900" dirty="0" err="1"/>
              <a:t>df</a:t>
            </a:r>
            <a:r>
              <a:rPr lang="en-IN" sz="900" dirty="0"/>
              <a:t>["</a:t>
            </a:r>
            <a:r>
              <a:rPr lang="en-IN" sz="900" dirty="0" err="1"/>
              <a:t>is_fraudulent</a:t>
            </a:r>
            <a:r>
              <a:rPr lang="en-IN" sz="900" dirty="0"/>
              <a:t>"]</a:t>
            </a:r>
          </a:p>
          <a:p>
            <a:pPr marL="0" indent="0">
              <a:buNone/>
            </a:pPr>
            <a:r>
              <a:rPr lang="en-IN" sz="900" dirty="0"/>
              <a:t>    for col in </a:t>
            </a:r>
            <a:r>
              <a:rPr lang="en-IN" sz="900" dirty="0" err="1"/>
              <a:t>X.select_dtypes</a:t>
            </a:r>
            <a:r>
              <a:rPr lang="en-IN" sz="900" dirty="0"/>
              <a:t>(include="object"):</a:t>
            </a:r>
          </a:p>
          <a:p>
            <a:pPr marL="0" indent="0">
              <a:buNone/>
            </a:pPr>
            <a:r>
              <a:rPr lang="en-IN" sz="900" dirty="0"/>
              <a:t>        X[col] = </a:t>
            </a:r>
            <a:r>
              <a:rPr lang="en-IN" sz="900" dirty="0" err="1"/>
              <a:t>LabelEncoder</a:t>
            </a:r>
            <a:r>
              <a:rPr lang="en-IN" sz="900" dirty="0"/>
              <a:t>().</a:t>
            </a:r>
            <a:r>
              <a:rPr lang="en-IN" sz="900" dirty="0" err="1"/>
              <a:t>fit_transform</a:t>
            </a:r>
            <a:r>
              <a:rPr lang="en-IN" sz="900" dirty="0"/>
              <a:t>(X[col])</a:t>
            </a:r>
          </a:p>
          <a:p>
            <a:pPr marL="0" indent="0">
              <a:buNone/>
            </a:pPr>
            <a:r>
              <a:rPr lang="en-IN" sz="900" dirty="0"/>
              <a:t>    X = </a:t>
            </a:r>
            <a:r>
              <a:rPr lang="en-IN" sz="900" dirty="0" err="1"/>
              <a:t>StandardScaler</a:t>
            </a:r>
            <a:r>
              <a:rPr lang="en-IN" sz="900" dirty="0"/>
              <a:t>().</a:t>
            </a:r>
            <a:r>
              <a:rPr lang="en-IN" sz="900" dirty="0" err="1"/>
              <a:t>fit_transform</a:t>
            </a:r>
            <a:r>
              <a:rPr lang="en-IN" sz="900" dirty="0"/>
              <a:t>(X)</a:t>
            </a:r>
          </a:p>
          <a:p>
            <a:pPr marL="0" indent="0">
              <a:buNone/>
            </a:pPr>
            <a:r>
              <a:rPr lang="en-IN" sz="900" dirty="0"/>
              <a:t>    X = </a:t>
            </a:r>
            <a:r>
              <a:rPr lang="en-IN" sz="900" dirty="0" err="1"/>
              <a:t>X.reshape</a:t>
            </a:r>
            <a:r>
              <a:rPr lang="en-IN" sz="900" dirty="0"/>
              <a:t>((</a:t>
            </a:r>
            <a:r>
              <a:rPr lang="en-IN" sz="900" dirty="0" err="1"/>
              <a:t>X.shape</a:t>
            </a:r>
            <a:r>
              <a:rPr lang="en-IN" sz="900" dirty="0"/>
              <a:t>[0],1,X.shape[1]))</a:t>
            </a:r>
          </a:p>
          <a:p>
            <a:pPr marL="0" indent="0">
              <a:buNone/>
            </a:pPr>
            <a:r>
              <a:rPr lang="en-IN" sz="900" dirty="0"/>
              <a:t>    </a:t>
            </a:r>
            <a:r>
              <a:rPr lang="en-IN" sz="900" dirty="0" err="1"/>
              <a:t>X_train,X_test,y_train,y_test</a:t>
            </a:r>
            <a:r>
              <a:rPr lang="en-IN" sz="900" dirty="0"/>
              <a:t> = </a:t>
            </a:r>
            <a:r>
              <a:rPr lang="en-IN" sz="900" dirty="0" err="1"/>
              <a:t>train_test_split</a:t>
            </a:r>
            <a:r>
              <a:rPr lang="en-IN" sz="900" dirty="0"/>
              <a:t>(</a:t>
            </a:r>
            <a:r>
              <a:rPr lang="en-IN" sz="900" dirty="0" err="1"/>
              <a:t>X,y,test_size</a:t>
            </a:r>
            <a:r>
              <a:rPr lang="en-IN" sz="900" dirty="0"/>
              <a:t>=0.2)</a:t>
            </a:r>
          </a:p>
          <a:p>
            <a:pPr marL="0" indent="0">
              <a:buNone/>
            </a:pPr>
            <a:r>
              <a:rPr lang="en-IN" sz="900" dirty="0"/>
              <a:t>    model = Sequential()</a:t>
            </a:r>
          </a:p>
          <a:p>
            <a:pPr marL="0" indent="0">
              <a:buNone/>
            </a:pPr>
            <a:r>
              <a:rPr lang="en-IN" sz="900" dirty="0"/>
              <a:t>    </a:t>
            </a:r>
            <a:r>
              <a:rPr lang="en-IN" sz="900" dirty="0" err="1"/>
              <a:t>model.add</a:t>
            </a:r>
            <a:r>
              <a:rPr lang="en-IN" sz="900" dirty="0"/>
              <a:t>(LSTM(64,input_shape=(1,X.shape[2]),</a:t>
            </a:r>
            <a:r>
              <a:rPr lang="en-IN" sz="900" dirty="0" err="1"/>
              <a:t>return_sequences</a:t>
            </a:r>
            <a:r>
              <a:rPr lang="en-IN" sz="900" dirty="0"/>
              <a:t>=True))</a:t>
            </a:r>
          </a:p>
          <a:p>
            <a:pPr marL="0" indent="0">
              <a:buNone/>
            </a:pPr>
            <a:r>
              <a:rPr lang="en-IN" sz="900" dirty="0"/>
              <a:t>    </a:t>
            </a:r>
            <a:r>
              <a:rPr lang="en-IN" sz="900" dirty="0" err="1"/>
              <a:t>model.add</a:t>
            </a:r>
            <a:r>
              <a:rPr lang="en-IN" sz="900" dirty="0"/>
              <a:t>(Dropout(0.3))</a:t>
            </a:r>
          </a:p>
          <a:p>
            <a:pPr marL="0" indent="0">
              <a:buNone/>
            </a:pPr>
            <a:r>
              <a:rPr lang="en-IN" sz="900" dirty="0"/>
              <a:t>    </a:t>
            </a:r>
            <a:r>
              <a:rPr lang="en-IN" sz="900" dirty="0" err="1"/>
              <a:t>model.add</a:t>
            </a:r>
            <a:r>
              <a:rPr lang="en-IN" sz="900" dirty="0"/>
              <a:t>(LSTM(32))</a:t>
            </a:r>
          </a:p>
          <a:p>
            <a:pPr marL="0" indent="0">
              <a:buNone/>
            </a:pPr>
            <a:r>
              <a:rPr lang="en-IN" sz="900" dirty="0"/>
              <a:t>    </a:t>
            </a:r>
            <a:r>
              <a:rPr lang="en-IN" sz="900" dirty="0" err="1"/>
              <a:t>model.add</a:t>
            </a:r>
            <a:r>
              <a:rPr lang="en-IN" sz="900" dirty="0"/>
              <a:t>(Dense(1,activation='sigmoid'))</a:t>
            </a:r>
          </a:p>
          <a:p>
            <a:pPr marL="0" indent="0">
              <a:buNone/>
            </a:pPr>
            <a:r>
              <a:rPr lang="en-IN" sz="900" dirty="0"/>
              <a:t>    </a:t>
            </a:r>
            <a:r>
              <a:rPr lang="en-IN" sz="900" dirty="0" err="1"/>
              <a:t>model.compile</a:t>
            </a:r>
            <a:r>
              <a:rPr lang="en-IN" sz="900" dirty="0"/>
              <a:t>(optimizer='</a:t>
            </a:r>
            <a:r>
              <a:rPr lang="en-IN" sz="900" dirty="0" err="1"/>
              <a:t>adam</a:t>
            </a:r>
            <a:r>
              <a:rPr lang="en-IN" sz="900" dirty="0"/>
              <a:t>',loss='</a:t>
            </a:r>
            <a:r>
              <a:rPr lang="en-IN" sz="900" dirty="0" err="1"/>
              <a:t>binary_crossentropy</a:t>
            </a:r>
            <a:r>
              <a:rPr lang="en-IN" sz="900" dirty="0"/>
              <a:t>')</a:t>
            </a:r>
          </a:p>
          <a:p>
            <a:pPr marL="0" indent="0">
              <a:buNone/>
            </a:pPr>
            <a:r>
              <a:rPr lang="en-IN" sz="900" dirty="0"/>
              <a:t>    </a:t>
            </a:r>
            <a:r>
              <a:rPr lang="en-IN" sz="900" dirty="0" err="1"/>
              <a:t>model.fit</a:t>
            </a:r>
            <a:r>
              <a:rPr lang="en-IN" sz="900" dirty="0"/>
              <a:t>(</a:t>
            </a:r>
            <a:r>
              <a:rPr lang="en-IN" sz="900" dirty="0" err="1"/>
              <a:t>X_train,y_train,epochs</a:t>
            </a:r>
            <a:r>
              <a:rPr lang="en-IN" sz="900" dirty="0"/>
              <a:t>=2)</a:t>
            </a:r>
          </a:p>
          <a:p>
            <a:pPr marL="0" indent="0">
              <a:buNone/>
            </a:pPr>
            <a:r>
              <a:rPr lang="en-IN" sz="900" dirty="0"/>
              <a:t>    return model</a:t>
            </a:r>
          </a:p>
        </p:txBody>
      </p:sp>
    </p:spTree>
    <p:extLst>
      <p:ext uri="{BB962C8B-B14F-4D97-AF65-F5344CB8AC3E}">
        <p14:creationId xmlns:p14="http://schemas.microsoft.com/office/powerpoint/2010/main" val="27866557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9D7BD8-3B34-15DB-E782-CC17B47CF51A}"/>
              </a:ext>
            </a:extLst>
          </p:cNvPr>
          <p:cNvSpPr>
            <a:spLocks noGrp="1"/>
          </p:cNvSpPr>
          <p:nvPr>
            <p:ph idx="1"/>
          </p:nvPr>
        </p:nvSpPr>
        <p:spPr>
          <a:xfrm>
            <a:off x="789709" y="156152"/>
            <a:ext cx="10515600" cy="6701848"/>
          </a:xfrm>
        </p:spPr>
        <p:txBody>
          <a:bodyPr/>
          <a:lstStyle/>
          <a:p>
            <a:pPr marL="0" indent="0">
              <a:buNone/>
            </a:pPr>
            <a:r>
              <a:rPr lang="en-IN" sz="1200" b="1" u="sng" dirty="0"/>
              <a:t>incremental_dataset.py</a:t>
            </a:r>
          </a:p>
          <a:p>
            <a:pPr marL="0" indent="0">
              <a:buNone/>
            </a:pPr>
            <a:r>
              <a:rPr lang="en-IN" sz="1200" dirty="0"/>
              <a:t>import pandas as pd</a:t>
            </a:r>
          </a:p>
          <a:p>
            <a:pPr marL="0" indent="0">
              <a:buNone/>
            </a:pPr>
            <a:r>
              <a:rPr lang="en-IN" sz="1200" dirty="0"/>
              <a:t>import </a:t>
            </a:r>
            <a:r>
              <a:rPr lang="en-IN" sz="1200" dirty="0" err="1"/>
              <a:t>os</a:t>
            </a:r>
            <a:endParaRPr lang="en-IN" sz="1200" dirty="0"/>
          </a:p>
          <a:p>
            <a:pPr marL="0" indent="0">
              <a:buNone/>
            </a:pPr>
            <a:endParaRPr lang="en-IN" sz="1200" dirty="0"/>
          </a:p>
          <a:p>
            <a:pPr marL="0" indent="0">
              <a:buNone/>
            </a:pPr>
            <a:r>
              <a:rPr lang="en-IN" sz="1200" dirty="0"/>
              <a:t>DATASET_PATH = "datasets/click_fraud_incremental.csv"</a:t>
            </a:r>
          </a:p>
          <a:p>
            <a:pPr marL="0" indent="0">
              <a:buNone/>
            </a:pPr>
            <a:endParaRPr lang="en-IN" sz="1200" dirty="0"/>
          </a:p>
          <a:p>
            <a:pPr marL="0" indent="0">
              <a:buNone/>
            </a:pPr>
            <a:r>
              <a:rPr lang="en-IN" sz="1200" dirty="0"/>
              <a:t>def </a:t>
            </a:r>
            <a:r>
              <a:rPr lang="en-IN" sz="1200" dirty="0" err="1"/>
              <a:t>append_to_dataset</a:t>
            </a:r>
            <a:r>
              <a:rPr lang="en-IN" sz="1200" dirty="0"/>
              <a:t>(data):</a:t>
            </a:r>
          </a:p>
          <a:p>
            <a:pPr marL="0" indent="0">
              <a:buNone/>
            </a:pPr>
            <a:r>
              <a:rPr lang="en-IN" sz="1200" dirty="0"/>
              <a:t>    </a:t>
            </a:r>
            <a:r>
              <a:rPr lang="en-IN" sz="1200" dirty="0" err="1"/>
              <a:t>df</a:t>
            </a:r>
            <a:r>
              <a:rPr lang="en-IN" sz="1200" dirty="0"/>
              <a:t> = </a:t>
            </a:r>
            <a:r>
              <a:rPr lang="en-IN" sz="1200" dirty="0" err="1"/>
              <a:t>pd.DataFrame</a:t>
            </a:r>
            <a:r>
              <a:rPr lang="en-IN" sz="1200" dirty="0"/>
              <a:t>([data])</a:t>
            </a:r>
          </a:p>
          <a:p>
            <a:pPr marL="0" indent="0">
              <a:buNone/>
            </a:pPr>
            <a:endParaRPr lang="en-IN" sz="1200" dirty="0"/>
          </a:p>
          <a:p>
            <a:pPr marL="0" indent="0">
              <a:buNone/>
            </a:pPr>
            <a:r>
              <a:rPr lang="en-IN" sz="1200" dirty="0"/>
              <a:t>    if not </a:t>
            </a:r>
            <a:r>
              <a:rPr lang="en-IN" sz="1200" dirty="0" err="1"/>
              <a:t>os.path.exists</a:t>
            </a:r>
            <a:r>
              <a:rPr lang="en-IN" sz="1200" dirty="0"/>
              <a:t>(DATASET_PATH):</a:t>
            </a:r>
          </a:p>
          <a:p>
            <a:pPr marL="0" indent="0">
              <a:buNone/>
            </a:pPr>
            <a:r>
              <a:rPr lang="en-IN" sz="1200" dirty="0"/>
              <a:t>        </a:t>
            </a:r>
            <a:r>
              <a:rPr lang="en-IN" sz="1200" dirty="0" err="1"/>
              <a:t>df.to_csv</a:t>
            </a:r>
            <a:r>
              <a:rPr lang="en-IN" sz="1200" dirty="0"/>
              <a:t>(</a:t>
            </a:r>
            <a:r>
              <a:rPr lang="en-IN" sz="1200" dirty="0" err="1"/>
              <a:t>DATASET_PATH,index</a:t>
            </a:r>
            <a:r>
              <a:rPr lang="en-IN" sz="1200" dirty="0"/>
              <a:t>=False)</a:t>
            </a:r>
          </a:p>
          <a:p>
            <a:pPr marL="0" indent="0">
              <a:buNone/>
            </a:pPr>
            <a:r>
              <a:rPr lang="en-IN" sz="1200" dirty="0"/>
              <a:t>    else:</a:t>
            </a:r>
          </a:p>
          <a:p>
            <a:pPr marL="0" indent="0">
              <a:buNone/>
            </a:pPr>
            <a:r>
              <a:rPr lang="en-IN" sz="1200" dirty="0"/>
              <a:t>        </a:t>
            </a:r>
            <a:r>
              <a:rPr lang="en-IN" sz="1200" dirty="0" err="1"/>
              <a:t>df.to_csv</a:t>
            </a:r>
            <a:r>
              <a:rPr lang="en-IN" sz="1200" dirty="0"/>
              <a:t>(</a:t>
            </a:r>
            <a:r>
              <a:rPr lang="en-IN" sz="1200" dirty="0" err="1"/>
              <a:t>DATASET_PATH,mode</a:t>
            </a:r>
            <a:r>
              <a:rPr lang="en-IN" sz="1200" dirty="0"/>
              <a:t>='</a:t>
            </a:r>
            <a:r>
              <a:rPr lang="en-IN" sz="1200" dirty="0" err="1"/>
              <a:t>a',header</a:t>
            </a:r>
            <a:r>
              <a:rPr lang="en-IN" sz="1200" dirty="0"/>
              <a:t>=</a:t>
            </a:r>
            <a:r>
              <a:rPr lang="en-IN" sz="1200" dirty="0" err="1"/>
              <a:t>False,index</a:t>
            </a:r>
            <a:r>
              <a:rPr lang="en-IN" sz="1200" dirty="0"/>
              <a:t>=False)</a:t>
            </a:r>
          </a:p>
          <a:p>
            <a:pPr marL="0" indent="0">
              <a:buNone/>
            </a:pPr>
            <a:r>
              <a:rPr lang="en-IN" sz="1200" b="1" u="sng" dirty="0"/>
              <a:t>tests.py</a:t>
            </a:r>
          </a:p>
          <a:p>
            <a:pPr marL="0" indent="0">
              <a:buNone/>
            </a:pPr>
            <a:r>
              <a:rPr lang="en-US" sz="1200" dirty="0"/>
              <a:t>from </a:t>
            </a:r>
            <a:r>
              <a:rPr lang="en-US" sz="1200" dirty="0" err="1"/>
              <a:t>django.test</a:t>
            </a:r>
            <a:r>
              <a:rPr lang="en-US" sz="1200" dirty="0"/>
              <a:t> import </a:t>
            </a:r>
            <a:r>
              <a:rPr lang="en-US" sz="1200" dirty="0" err="1"/>
              <a:t>TestCase</a:t>
            </a:r>
            <a:br>
              <a:rPr lang="en-US" sz="1200" dirty="0"/>
            </a:br>
            <a:br>
              <a:rPr lang="en-US" sz="1200" dirty="0"/>
            </a:br>
            <a:r>
              <a:rPr lang="en-US" sz="1200" dirty="0"/>
              <a:t>class </a:t>
            </a:r>
            <a:r>
              <a:rPr lang="en-US" sz="1200" dirty="0" err="1"/>
              <a:t>BasicTest</a:t>
            </a:r>
            <a:r>
              <a:rPr lang="en-US" sz="1200" dirty="0"/>
              <a:t>(</a:t>
            </a:r>
            <a:r>
              <a:rPr lang="en-US" sz="1200" dirty="0" err="1"/>
              <a:t>TestCase</a:t>
            </a:r>
            <a:r>
              <a:rPr lang="en-US" sz="1200" dirty="0"/>
              <a:t>):</a:t>
            </a:r>
            <a:br>
              <a:rPr lang="en-US" sz="1200" dirty="0"/>
            </a:br>
            <a:r>
              <a:rPr lang="en-US" sz="1200" dirty="0"/>
              <a:t>def </a:t>
            </a:r>
            <a:r>
              <a:rPr lang="en-US" sz="1200" dirty="0" err="1"/>
              <a:t>test_home</a:t>
            </a:r>
            <a:r>
              <a:rPr lang="en-US" sz="1200" dirty="0"/>
              <a:t>(self):</a:t>
            </a:r>
            <a:br>
              <a:rPr lang="en-US" sz="1200" dirty="0"/>
            </a:br>
            <a:r>
              <a:rPr lang="en-US" sz="1200" dirty="0" err="1"/>
              <a:t>self.assertEqual</a:t>
            </a:r>
            <a:r>
              <a:rPr lang="en-US" sz="1200" dirty="0"/>
              <a:t>(1,1)</a:t>
            </a:r>
            <a:endParaRPr lang="en-IN" sz="1200" b="1" u="sng" dirty="0"/>
          </a:p>
        </p:txBody>
      </p:sp>
    </p:spTree>
    <p:extLst>
      <p:ext uri="{BB962C8B-B14F-4D97-AF65-F5344CB8AC3E}">
        <p14:creationId xmlns:p14="http://schemas.microsoft.com/office/powerpoint/2010/main" val="4598432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E9E7A-10D7-1ABF-B3F1-E251343B2A43}"/>
              </a:ext>
            </a:extLst>
          </p:cNvPr>
          <p:cNvSpPr>
            <a:spLocks noGrp="1"/>
          </p:cNvSpPr>
          <p:nvPr>
            <p:ph type="title"/>
          </p:nvPr>
        </p:nvSpPr>
        <p:spPr>
          <a:xfrm>
            <a:off x="838200" y="365125"/>
            <a:ext cx="10515600" cy="667039"/>
          </a:xfrm>
        </p:spPr>
        <p:txBody>
          <a:bodyPr>
            <a:normAutofit fontScale="90000"/>
          </a:bodyPr>
          <a:lstStyle/>
          <a:p>
            <a:pPr algn="ctr"/>
            <a:r>
              <a:rPr lang="en-IN" b="1" u="sng" dirty="0"/>
              <a:t>Results</a:t>
            </a:r>
          </a:p>
        </p:txBody>
      </p:sp>
      <p:pic>
        <p:nvPicPr>
          <p:cNvPr id="4" name="Content Placeholder 3">
            <a:extLst>
              <a:ext uri="{FF2B5EF4-FFF2-40B4-BE49-F238E27FC236}">
                <a16:creationId xmlns:a16="http://schemas.microsoft.com/office/drawing/2014/main" id="{E22665DD-FD54-6C30-5A05-07EF31DE8AE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05892" y="1032164"/>
            <a:ext cx="7370618" cy="4343400"/>
          </a:xfrm>
          <a:prstGeom prst="rect">
            <a:avLst/>
          </a:prstGeom>
          <a:noFill/>
          <a:ln>
            <a:noFill/>
          </a:ln>
        </p:spPr>
      </p:pic>
      <p:sp>
        <p:nvSpPr>
          <p:cNvPr id="5" name="TextBox 4">
            <a:extLst>
              <a:ext uri="{FF2B5EF4-FFF2-40B4-BE49-F238E27FC236}">
                <a16:creationId xmlns:a16="http://schemas.microsoft.com/office/drawing/2014/main" id="{081852C1-C0EE-97A8-12E3-36450EA321B9}"/>
              </a:ext>
            </a:extLst>
          </p:cNvPr>
          <p:cNvSpPr txBox="1"/>
          <p:nvPr/>
        </p:nvSpPr>
        <p:spPr>
          <a:xfrm>
            <a:off x="394855" y="5805055"/>
            <a:ext cx="9815945" cy="923330"/>
          </a:xfrm>
          <a:prstGeom prst="rect">
            <a:avLst/>
          </a:prstGeom>
          <a:noFill/>
        </p:spPr>
        <p:txBody>
          <a:bodyPr wrap="square" rtlCol="0">
            <a:spAutoFit/>
          </a:bodyPr>
          <a:lstStyle/>
          <a:p>
            <a:pPr algn="ctr"/>
            <a:r>
              <a:rPr lang="en-US" dirty="0"/>
              <a:t>Figure :Detection module image of Ad Click </a:t>
            </a:r>
            <a:endParaRPr lang="en-IN" dirty="0"/>
          </a:p>
          <a:p>
            <a:pPr algn="ctr"/>
            <a:r>
              <a:rPr lang="en-US" dirty="0" err="1"/>
              <a:t>FraudDetection</a:t>
            </a:r>
            <a:r>
              <a:rPr lang="en-US" dirty="0"/>
              <a:t> Using Machine Learning And Deep Learning  Algorithms               </a:t>
            </a:r>
            <a:br>
              <a:rPr lang="en-US" dirty="0"/>
            </a:br>
            <a:endParaRPr lang="en-IN" dirty="0"/>
          </a:p>
        </p:txBody>
      </p:sp>
    </p:spTree>
    <p:extLst>
      <p:ext uri="{BB962C8B-B14F-4D97-AF65-F5344CB8AC3E}">
        <p14:creationId xmlns:p14="http://schemas.microsoft.com/office/powerpoint/2010/main" val="20492162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F08792D-19F6-E46B-D4E2-9789C361C74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63288" y="1082992"/>
            <a:ext cx="6304512" cy="3759172"/>
          </a:xfrm>
          <a:prstGeom prst="rect">
            <a:avLst/>
          </a:prstGeom>
          <a:noFill/>
          <a:ln>
            <a:noFill/>
          </a:ln>
        </p:spPr>
      </p:pic>
      <p:sp>
        <p:nvSpPr>
          <p:cNvPr id="5" name="TextBox 4">
            <a:extLst>
              <a:ext uri="{FF2B5EF4-FFF2-40B4-BE49-F238E27FC236}">
                <a16:creationId xmlns:a16="http://schemas.microsoft.com/office/drawing/2014/main" id="{D2010E71-4102-A184-D57D-A72519499F8A}"/>
              </a:ext>
            </a:extLst>
          </p:cNvPr>
          <p:cNvSpPr txBox="1"/>
          <p:nvPr/>
        </p:nvSpPr>
        <p:spPr>
          <a:xfrm>
            <a:off x="2105891" y="5140036"/>
            <a:ext cx="7412182" cy="923330"/>
          </a:xfrm>
          <a:prstGeom prst="rect">
            <a:avLst/>
          </a:prstGeom>
          <a:noFill/>
        </p:spPr>
        <p:txBody>
          <a:bodyPr wrap="square" rtlCol="0">
            <a:spAutoFit/>
          </a:bodyPr>
          <a:lstStyle/>
          <a:p>
            <a:pPr algn="ctr"/>
            <a:r>
              <a:rPr lang="en-US" dirty="0"/>
              <a:t>Figure :</a:t>
            </a:r>
            <a:r>
              <a:rPr lang="en-IN" dirty="0"/>
              <a:t>Human click detection</a:t>
            </a:r>
            <a:r>
              <a:rPr lang="en-US" dirty="0"/>
              <a:t> image of Ad Click</a:t>
            </a:r>
            <a:endParaRPr lang="en-IN" dirty="0"/>
          </a:p>
          <a:p>
            <a:pPr algn="ctr"/>
            <a:r>
              <a:rPr lang="en-US" dirty="0"/>
              <a:t> </a:t>
            </a:r>
            <a:r>
              <a:rPr lang="en-US" dirty="0" err="1"/>
              <a:t>FraudDetection</a:t>
            </a:r>
            <a:r>
              <a:rPr lang="en-US" dirty="0"/>
              <a:t> Using Machine Learning And Deep Learning  Algorithms               </a:t>
            </a:r>
            <a:endParaRPr lang="en-IN" dirty="0"/>
          </a:p>
          <a:p>
            <a:pPr algn="ctr"/>
            <a:r>
              <a:rPr lang="en-US" b="1" dirty="0"/>
              <a:t> </a:t>
            </a:r>
            <a:endParaRPr lang="en-IN" dirty="0"/>
          </a:p>
        </p:txBody>
      </p:sp>
    </p:spTree>
    <p:extLst>
      <p:ext uri="{BB962C8B-B14F-4D97-AF65-F5344CB8AC3E}">
        <p14:creationId xmlns:p14="http://schemas.microsoft.com/office/powerpoint/2010/main" val="14630203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552D920-BF3F-F6BF-2872-D84AFA7232A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9434" y="1045006"/>
            <a:ext cx="6526183" cy="3603193"/>
          </a:xfrm>
          <a:prstGeom prst="rect">
            <a:avLst/>
          </a:prstGeom>
          <a:noFill/>
          <a:ln>
            <a:noFill/>
          </a:ln>
        </p:spPr>
      </p:pic>
      <p:sp>
        <p:nvSpPr>
          <p:cNvPr id="3" name="TextBox 2">
            <a:extLst>
              <a:ext uri="{FF2B5EF4-FFF2-40B4-BE49-F238E27FC236}">
                <a16:creationId xmlns:a16="http://schemas.microsoft.com/office/drawing/2014/main" id="{F6E09253-2B1C-9108-2A37-2CD774D422FC}"/>
              </a:ext>
            </a:extLst>
          </p:cNvPr>
          <p:cNvSpPr txBox="1"/>
          <p:nvPr/>
        </p:nvSpPr>
        <p:spPr>
          <a:xfrm>
            <a:off x="2299855" y="5444836"/>
            <a:ext cx="8139545" cy="1754326"/>
          </a:xfrm>
          <a:prstGeom prst="rect">
            <a:avLst/>
          </a:prstGeom>
          <a:noFill/>
        </p:spPr>
        <p:txBody>
          <a:bodyPr wrap="square" rtlCol="0">
            <a:spAutoFit/>
          </a:bodyPr>
          <a:lstStyle/>
          <a:p>
            <a:pPr algn="ctr"/>
            <a:r>
              <a:rPr lang="en-IN" dirty="0"/>
              <a:t>Figure :Bot click detection</a:t>
            </a:r>
            <a:r>
              <a:rPr lang="en-US" dirty="0"/>
              <a:t> image of Ad Click</a:t>
            </a:r>
            <a:endParaRPr lang="en-IN" dirty="0"/>
          </a:p>
          <a:p>
            <a:pPr algn="ctr"/>
            <a:r>
              <a:rPr lang="en-US" dirty="0"/>
              <a:t> </a:t>
            </a:r>
            <a:r>
              <a:rPr lang="en-US" dirty="0" err="1"/>
              <a:t>FraudDetection</a:t>
            </a:r>
            <a:r>
              <a:rPr lang="en-US" dirty="0"/>
              <a:t> Using Machine Learning And Deep Learning  Algorithms               </a:t>
            </a:r>
            <a:endParaRPr lang="en-IN" dirty="0"/>
          </a:p>
          <a:p>
            <a:pPr algn="ctr"/>
            <a:br>
              <a:rPr lang="en-IN" b="1" dirty="0"/>
            </a:br>
            <a:endParaRPr lang="en-IN" dirty="0"/>
          </a:p>
          <a:p>
            <a:pPr algn="ctr"/>
            <a:br>
              <a:rPr lang="en-US" dirty="0"/>
            </a:br>
            <a:endParaRPr lang="en-IN" dirty="0"/>
          </a:p>
        </p:txBody>
      </p:sp>
    </p:spTree>
    <p:extLst>
      <p:ext uri="{BB962C8B-B14F-4D97-AF65-F5344CB8AC3E}">
        <p14:creationId xmlns:p14="http://schemas.microsoft.com/office/powerpoint/2010/main" val="4325542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2E756A3-B0EB-9196-AC30-ACE58DC4B84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67506" y="983643"/>
            <a:ext cx="7158385" cy="3969357"/>
          </a:xfrm>
          <a:prstGeom prst="rect">
            <a:avLst/>
          </a:prstGeom>
          <a:noFill/>
          <a:ln>
            <a:noFill/>
          </a:ln>
        </p:spPr>
      </p:pic>
      <p:sp>
        <p:nvSpPr>
          <p:cNvPr id="5" name="TextBox 4">
            <a:extLst>
              <a:ext uri="{FF2B5EF4-FFF2-40B4-BE49-F238E27FC236}">
                <a16:creationId xmlns:a16="http://schemas.microsoft.com/office/drawing/2014/main" id="{3BBE42F3-AFAD-2FA5-7610-CF3F3FC5CFDE}"/>
              </a:ext>
            </a:extLst>
          </p:cNvPr>
          <p:cNvSpPr txBox="1"/>
          <p:nvPr/>
        </p:nvSpPr>
        <p:spPr>
          <a:xfrm>
            <a:off x="2265220" y="5597236"/>
            <a:ext cx="7834744" cy="1477328"/>
          </a:xfrm>
          <a:prstGeom prst="rect">
            <a:avLst/>
          </a:prstGeom>
          <a:noFill/>
        </p:spPr>
        <p:txBody>
          <a:bodyPr wrap="square" rtlCol="0">
            <a:spAutoFit/>
          </a:bodyPr>
          <a:lstStyle/>
          <a:p>
            <a:pPr algn="ctr"/>
            <a:r>
              <a:rPr lang="en-US" dirty="0"/>
              <a:t>Figure : Multiple </a:t>
            </a:r>
            <a:r>
              <a:rPr lang="en-IN" dirty="0"/>
              <a:t>click detection</a:t>
            </a:r>
            <a:r>
              <a:rPr lang="en-US" dirty="0"/>
              <a:t> image of Ad Click</a:t>
            </a:r>
            <a:endParaRPr lang="en-IN" dirty="0"/>
          </a:p>
          <a:p>
            <a:pPr algn="ctr"/>
            <a:r>
              <a:rPr lang="en-US" dirty="0"/>
              <a:t> </a:t>
            </a:r>
            <a:r>
              <a:rPr lang="en-US" dirty="0" err="1"/>
              <a:t>FraudDetection</a:t>
            </a:r>
            <a:r>
              <a:rPr lang="en-US" dirty="0"/>
              <a:t> Using Machine Learning And Deep Learning  Algorithms               </a:t>
            </a:r>
            <a:endParaRPr lang="en-IN" dirty="0"/>
          </a:p>
          <a:p>
            <a:pPr algn="ctr"/>
            <a:r>
              <a:rPr lang="en-US" dirty="0"/>
              <a:t> </a:t>
            </a:r>
            <a:endParaRPr lang="en-IN" dirty="0"/>
          </a:p>
          <a:p>
            <a:pPr algn="ctr"/>
            <a:r>
              <a:rPr lang="en-US" dirty="0"/>
              <a:t> </a:t>
            </a:r>
            <a:endParaRPr lang="en-IN" dirty="0"/>
          </a:p>
          <a:p>
            <a:pPr algn="ctr"/>
            <a:endParaRPr lang="en-IN" dirty="0"/>
          </a:p>
        </p:txBody>
      </p:sp>
    </p:spTree>
    <p:extLst>
      <p:ext uri="{BB962C8B-B14F-4D97-AF65-F5344CB8AC3E}">
        <p14:creationId xmlns:p14="http://schemas.microsoft.com/office/powerpoint/2010/main" val="35452717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E02658-8784-C7B2-CB44-150A81D41DE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29325" y="893618"/>
            <a:ext cx="7533349" cy="3614189"/>
          </a:xfrm>
          <a:prstGeom prst="rect">
            <a:avLst/>
          </a:prstGeom>
          <a:noFill/>
          <a:ln>
            <a:noFill/>
          </a:ln>
        </p:spPr>
      </p:pic>
      <p:sp>
        <p:nvSpPr>
          <p:cNvPr id="3" name="TextBox 2">
            <a:extLst>
              <a:ext uri="{FF2B5EF4-FFF2-40B4-BE49-F238E27FC236}">
                <a16:creationId xmlns:a16="http://schemas.microsoft.com/office/drawing/2014/main" id="{718F06C3-10B7-A566-EE6F-664D81EC55B3}"/>
              </a:ext>
            </a:extLst>
          </p:cNvPr>
          <p:cNvSpPr txBox="1"/>
          <p:nvPr/>
        </p:nvSpPr>
        <p:spPr>
          <a:xfrm>
            <a:off x="2329325" y="5202382"/>
            <a:ext cx="7722148" cy="923330"/>
          </a:xfrm>
          <a:prstGeom prst="rect">
            <a:avLst/>
          </a:prstGeom>
          <a:noFill/>
        </p:spPr>
        <p:txBody>
          <a:bodyPr wrap="square" rtlCol="0">
            <a:spAutoFit/>
          </a:bodyPr>
          <a:lstStyle/>
          <a:p>
            <a:pPr algn="ctr"/>
            <a:r>
              <a:rPr lang="en-US" dirty="0"/>
              <a:t>Figure :Model Training  image of Ad Click </a:t>
            </a:r>
            <a:r>
              <a:rPr lang="en-US" dirty="0" err="1"/>
              <a:t>FraudDetection</a:t>
            </a:r>
            <a:r>
              <a:rPr lang="en-US" dirty="0"/>
              <a:t> Using Machine Learning And Deep Learning  Algorithms               </a:t>
            </a:r>
            <a:endParaRPr lang="en-IN" dirty="0"/>
          </a:p>
          <a:p>
            <a:pPr algn="ctr"/>
            <a:endParaRPr lang="en-IN" dirty="0"/>
          </a:p>
        </p:txBody>
      </p:sp>
    </p:spTree>
    <p:extLst>
      <p:ext uri="{BB962C8B-B14F-4D97-AF65-F5344CB8AC3E}">
        <p14:creationId xmlns:p14="http://schemas.microsoft.com/office/powerpoint/2010/main" val="37447251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E5171-B1FE-5206-9816-96EDEC509344}"/>
              </a:ext>
            </a:extLst>
          </p:cNvPr>
          <p:cNvSpPr>
            <a:spLocks noGrp="1"/>
          </p:cNvSpPr>
          <p:nvPr>
            <p:ph type="title"/>
          </p:nvPr>
        </p:nvSpPr>
        <p:spPr/>
        <p:txBody>
          <a:bodyPr/>
          <a:lstStyle/>
          <a:p>
            <a:pPr algn="ctr"/>
            <a:r>
              <a:rPr lang="en-IN" b="1" u="sng" dirty="0"/>
              <a:t>Conclusion:</a:t>
            </a:r>
          </a:p>
        </p:txBody>
      </p:sp>
      <p:sp>
        <p:nvSpPr>
          <p:cNvPr id="4" name="Rectangle 1">
            <a:extLst>
              <a:ext uri="{FF2B5EF4-FFF2-40B4-BE49-F238E27FC236}">
                <a16:creationId xmlns:a16="http://schemas.microsoft.com/office/drawing/2014/main" id="{1A0C8052-CA90-8088-DA16-A293D5E43016}"/>
              </a:ext>
            </a:extLst>
          </p:cNvPr>
          <p:cNvSpPr>
            <a:spLocks noGrp="1" noChangeArrowheads="1"/>
          </p:cNvSpPr>
          <p:nvPr>
            <p:ph idx="1"/>
          </p:nvPr>
        </p:nvSpPr>
        <p:spPr bwMode="auto">
          <a:xfrm>
            <a:off x="1003300" y="1485072"/>
            <a:ext cx="10185400" cy="3671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Click fraud is a major problem in online advertising.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proposed hybrid system uses </a:t>
            </a:r>
            <a:r>
              <a:rPr kumimoji="0" lang="en-US" altLang="en-US" sz="2400" b="1" i="0" u="none" strike="noStrike" cap="none" normalizeH="0" baseline="0" dirty="0">
                <a:ln>
                  <a:noFill/>
                </a:ln>
                <a:solidFill>
                  <a:schemeClr val="tx1"/>
                </a:solidFill>
                <a:effectLst/>
                <a:latin typeface="Arial" panose="020B0604020202020204" pitchFamily="34" charset="0"/>
              </a:rPr>
              <a:t>Machine Learning and LSTM</a:t>
            </a:r>
            <a:r>
              <a:rPr kumimoji="0" lang="en-US" altLang="en-US" sz="2400" b="0" i="0" u="none" strike="noStrike" cap="none" normalizeH="0" baseline="0" dirty="0">
                <a:ln>
                  <a:noFill/>
                </a:ln>
                <a:solidFill>
                  <a:schemeClr val="tx1"/>
                </a:solidFill>
                <a:effectLst/>
                <a:latin typeface="Arial" panose="020B0604020202020204" pitchFamily="34" charset="0"/>
              </a:rPr>
              <a:t> to detect fraud.</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It analyzes user behavior and click patterns.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system improves </a:t>
            </a:r>
            <a:r>
              <a:rPr kumimoji="0" lang="en-US" altLang="en-US" sz="2400" b="1" i="0" u="none" strike="noStrike" cap="none" normalizeH="0" baseline="0" dirty="0">
                <a:ln>
                  <a:noFill/>
                </a:ln>
                <a:solidFill>
                  <a:schemeClr val="tx1"/>
                </a:solidFill>
                <a:effectLst/>
                <a:latin typeface="Arial" panose="020B0604020202020204" pitchFamily="34" charset="0"/>
              </a:rPr>
              <a:t>accuracy and real-time fraud detection</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50217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E1174-CBB2-E657-9829-E205B3E90789}"/>
              </a:ext>
            </a:extLst>
          </p:cNvPr>
          <p:cNvSpPr>
            <a:spLocks noGrp="1"/>
          </p:cNvSpPr>
          <p:nvPr>
            <p:ph type="title"/>
          </p:nvPr>
        </p:nvSpPr>
        <p:spPr/>
        <p:txBody>
          <a:bodyPr/>
          <a:lstStyle/>
          <a:p>
            <a:pPr algn="ctr"/>
            <a:r>
              <a:rPr lang="en-US" b="1" u="sng" dirty="0"/>
              <a:t>FUTURE ASPECTS</a:t>
            </a:r>
            <a:br>
              <a:rPr lang="en-IN" b="1" dirty="0"/>
            </a:br>
            <a:endParaRPr lang="en-IN" dirty="0"/>
          </a:p>
        </p:txBody>
      </p:sp>
      <p:sp>
        <p:nvSpPr>
          <p:cNvPr id="3" name="Content Placeholder 2">
            <a:extLst>
              <a:ext uri="{FF2B5EF4-FFF2-40B4-BE49-F238E27FC236}">
                <a16:creationId xmlns:a16="http://schemas.microsoft.com/office/drawing/2014/main" id="{28B1C63B-ABF3-FD3B-B54E-CD7169BBF546}"/>
              </a:ext>
            </a:extLst>
          </p:cNvPr>
          <p:cNvSpPr>
            <a:spLocks noGrp="1"/>
          </p:cNvSpPr>
          <p:nvPr>
            <p:ph idx="1"/>
          </p:nvPr>
        </p:nvSpPr>
        <p:spPr>
          <a:xfrm>
            <a:off x="838200" y="1313007"/>
            <a:ext cx="10515600" cy="4351338"/>
          </a:xfrm>
        </p:spPr>
        <p:txBody>
          <a:bodyPr/>
          <a:lstStyle/>
          <a:p>
            <a:r>
              <a:rPr lang="en-US" sz="2400" dirty="0"/>
              <a:t>Future enhancements can significantly strengthen the system’s real-world effectiveness. </a:t>
            </a:r>
          </a:p>
          <a:p>
            <a:r>
              <a:rPr lang="en-US" sz="2400" dirty="0"/>
              <a:t>Integrating real-time streaming and cloud deployment will improve scalability and responsiveness. </a:t>
            </a:r>
          </a:p>
          <a:p>
            <a:r>
              <a:rPr lang="en-US" sz="2400" dirty="0"/>
              <a:t>Incorporating advanced models like Transformers and federated learning can enhance accuracy while preserving data privacy. </a:t>
            </a:r>
          </a:p>
          <a:p>
            <a:r>
              <a:rPr lang="en-US" sz="2400" dirty="0"/>
              <a:t>Continuous learning through automated model updates will keep the system adaptive to evolving fraud patterns. </a:t>
            </a:r>
          </a:p>
          <a:p>
            <a:r>
              <a:rPr lang="en-US" sz="2400" dirty="0"/>
              <a:t>Additionally, dashboards and richer behavioral features will support better monitoring and decision-making.</a:t>
            </a:r>
          </a:p>
          <a:p>
            <a:endParaRPr lang="en-IN" dirty="0"/>
          </a:p>
        </p:txBody>
      </p:sp>
    </p:spTree>
    <p:extLst>
      <p:ext uri="{BB962C8B-B14F-4D97-AF65-F5344CB8AC3E}">
        <p14:creationId xmlns:p14="http://schemas.microsoft.com/office/powerpoint/2010/main" val="29698764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B3225-45F0-4F62-A03E-864F7211E403}"/>
              </a:ext>
            </a:extLst>
          </p:cNvPr>
          <p:cNvSpPr>
            <a:spLocks noGrp="1"/>
          </p:cNvSpPr>
          <p:nvPr>
            <p:ph type="title"/>
          </p:nvPr>
        </p:nvSpPr>
        <p:spPr/>
        <p:txBody>
          <a:bodyPr/>
          <a:lstStyle/>
          <a:p>
            <a:pPr algn="ctr"/>
            <a:r>
              <a:rPr lang="en-IN" b="1" u="sng" dirty="0"/>
              <a:t>References</a:t>
            </a:r>
          </a:p>
        </p:txBody>
      </p:sp>
      <p:sp>
        <p:nvSpPr>
          <p:cNvPr id="3" name="Content Placeholder 2">
            <a:extLst>
              <a:ext uri="{FF2B5EF4-FFF2-40B4-BE49-F238E27FC236}">
                <a16:creationId xmlns:a16="http://schemas.microsoft.com/office/drawing/2014/main" id="{F897D83F-BA9F-5A63-D862-DD8808AB9A0E}"/>
              </a:ext>
            </a:extLst>
          </p:cNvPr>
          <p:cNvSpPr>
            <a:spLocks noGrp="1"/>
          </p:cNvSpPr>
          <p:nvPr>
            <p:ph idx="1"/>
          </p:nvPr>
        </p:nvSpPr>
        <p:spPr>
          <a:xfrm>
            <a:off x="838200" y="1624734"/>
            <a:ext cx="10515600" cy="4351338"/>
          </a:xfrm>
        </p:spPr>
        <p:txBody>
          <a:bodyPr>
            <a:normAutofit fontScale="77500" lnSpcReduction="20000"/>
          </a:bodyPr>
          <a:lstStyle/>
          <a:p>
            <a:pPr lvl="0"/>
            <a:r>
              <a:rPr lang="en-IN" dirty="0"/>
              <a:t>Kumar, A., &amp; Sharma, R. “Machine Learning Approaches for Click Fraud Detection.” IEEE Access.</a:t>
            </a:r>
          </a:p>
          <a:p>
            <a:pPr lvl="0"/>
            <a:r>
              <a:rPr lang="en-IN" dirty="0"/>
              <a:t>Patel, S., &amp; Mehta, R. “Deep Learning-Based Analysis of User Interaction for Fraud Identification.” ACM Digital Library.</a:t>
            </a:r>
          </a:p>
          <a:p>
            <a:pPr lvl="0"/>
            <a:r>
              <a:rPr lang="en-IN" dirty="0"/>
              <a:t>Zhang, M., Chen, L. “Sequential </a:t>
            </a:r>
            <a:r>
              <a:rPr lang="en-IN" dirty="0" err="1"/>
              <a:t>Modeling</a:t>
            </a:r>
            <a:r>
              <a:rPr lang="en-IN" dirty="0"/>
              <a:t> Techniques for Detecting Click Fraud Using RNN.” Springer.</a:t>
            </a:r>
          </a:p>
          <a:p>
            <a:pPr lvl="0"/>
            <a:r>
              <a:rPr lang="en-IN" dirty="0"/>
              <a:t>Roy, J., &amp; Das, S. “Hybrid ML Framework for Online Advertising Fraud Detection.” Elsevier.</a:t>
            </a:r>
          </a:p>
          <a:p>
            <a:pPr lvl="0"/>
            <a:r>
              <a:rPr lang="en-IN" dirty="0"/>
              <a:t>Nguyen, T., &amp; Lee, J. “Client-Side </a:t>
            </a:r>
            <a:r>
              <a:rPr lang="en-IN" dirty="0" err="1"/>
              <a:t>Behavioral</a:t>
            </a:r>
            <a:r>
              <a:rPr lang="en-IN" dirty="0"/>
              <a:t> Tracking for Real-Time Fraud Prevention.” IEEE Transactions on Information Forensics.</a:t>
            </a:r>
          </a:p>
          <a:p>
            <a:pPr lvl="0"/>
            <a:r>
              <a:rPr lang="en-IN" dirty="0"/>
              <a:t>Wang, P., &amp; Li, H. “Gradient Boosting Models for Advertising Fraud Detection.” Journal of Big Data.</a:t>
            </a:r>
          </a:p>
          <a:p>
            <a:r>
              <a:rPr lang="en-IN" dirty="0"/>
              <a:t>Verma, A., &amp; Singh, R. “Real-Time Ensemble Classification for Click Fraud Detection.” International Journal of Data Science</a:t>
            </a:r>
          </a:p>
        </p:txBody>
      </p:sp>
    </p:spTree>
    <p:extLst>
      <p:ext uri="{BB962C8B-B14F-4D97-AF65-F5344CB8AC3E}">
        <p14:creationId xmlns:p14="http://schemas.microsoft.com/office/powerpoint/2010/main" val="20707367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162</TotalTime>
  <Words>2671</Words>
  <Application>Microsoft Office PowerPoint</Application>
  <PresentationFormat>Widescreen</PresentationFormat>
  <Paragraphs>345</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PowerPoint Presentation</vt:lpstr>
      <vt:lpstr>Contents:</vt:lpstr>
      <vt:lpstr>Abstract :</vt:lpstr>
      <vt:lpstr>Introduction: </vt:lpstr>
      <vt:lpstr>Existing System:</vt:lpstr>
      <vt:lpstr>PowerPoint Presentation</vt:lpstr>
      <vt:lpstr>Limitations of the Existing System:</vt:lpstr>
      <vt:lpstr>Proposed system :</vt:lpstr>
      <vt:lpstr>PowerPoint Presentation</vt:lpstr>
      <vt:lpstr>PowerPoint Presentation</vt:lpstr>
      <vt:lpstr>Advantages of proposed system :</vt:lpstr>
      <vt:lpstr>Problem Statement:</vt:lpstr>
      <vt:lpstr>PowerPoint Presentation</vt:lpstr>
      <vt:lpstr>PowerPoint Presentation</vt:lpstr>
      <vt:lpstr>Novelty of project</vt:lpstr>
      <vt:lpstr>System architecture:</vt:lpstr>
      <vt:lpstr>UML Diagrams:  Use Case Diagram </vt:lpstr>
      <vt:lpstr>PowerPoint Presentation</vt:lpstr>
      <vt:lpstr>PowerPoint Presentation</vt:lpstr>
      <vt:lpstr>PowerPoint Presentation</vt:lpstr>
      <vt:lpstr>PowerPoint Presentation</vt:lpstr>
      <vt:lpstr>Source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vt:lpstr>
      <vt:lpstr>PowerPoint Presentation</vt:lpstr>
      <vt:lpstr>PowerPoint Presentation</vt:lpstr>
      <vt:lpstr>PowerPoint Presentation</vt:lpstr>
      <vt:lpstr>PowerPoint Presentation</vt:lpstr>
      <vt:lpstr>Conclusion:</vt:lpstr>
      <vt:lpstr>FUTURE ASPECTS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Kartheek</dc:creator>
  <cp:lastModifiedBy>naveen kumar</cp:lastModifiedBy>
  <cp:revision>21</cp:revision>
  <dcterms:created xsi:type="dcterms:W3CDTF">2025-07-23T00:59:00Z</dcterms:created>
  <dcterms:modified xsi:type="dcterms:W3CDTF">2026-03-27T06:11:23Z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EAFD1F1F682A41E8B15A2A86C4EA624A_13</vt:lpwstr>
  </property>
  <property fmtid="{D5CDD505-2E9C-101B-9397-08002B2CF9AE}" pid="3" name="KSOProductBuildVer">
    <vt:lpwstr>1033-12.2.0.23196</vt:lpwstr>
  </property>
</Properties>
</file>